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Week 13: Technology Strategy &amp; Portfolio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4444"/>
                </a:solidFill>
              </a:defRPr>
            </a:pPr>
            <a:r>
              <a:t>MBA 590 - Advanced AI Strategy</a:t>
            </a:r>
          </a:p>
          <a:p>
            <a:r>
              <a:t>Developing Strategic Technology Roadmaps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Today's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1. Technology Strategy Frameworks</a:t>
            </a:r>
          </a:p>
          <a:p>
            <a:pPr>
              <a:spcAft>
                <a:spcPts val="1000"/>
              </a:spcAft>
              <a:defRPr sz="1800"/>
            </a:pPr>
            <a:r>
              <a:t>2. Project Prioritization Methodologies</a:t>
            </a:r>
          </a:p>
          <a:p>
            <a:pPr lvl="1">
              <a:spcAft>
                <a:spcPts val="1000"/>
              </a:spcAft>
              <a:defRPr sz="1800"/>
            </a:pPr>
            <a:r>
              <a:t>Weighted Scoring, RICE, Value vs Effort</a:t>
            </a:r>
          </a:p>
          <a:p>
            <a:pPr>
              <a:spcAft>
                <a:spcPts val="1000"/>
              </a:spcAft>
              <a:defRPr sz="1800"/>
            </a:pPr>
            <a:r>
              <a:t>3. Portfolio Management &amp; Balance</a:t>
            </a:r>
          </a:p>
          <a:p>
            <a:pPr lvl="1">
              <a:spcAft>
                <a:spcPts val="1000"/>
              </a:spcAft>
              <a:defRPr sz="1800"/>
            </a:pPr>
            <a:r>
              <a:t>Three Horizons, Risk Profiles</a:t>
            </a:r>
          </a:p>
          <a:p>
            <a:pPr>
              <a:spcAft>
                <a:spcPts val="1000"/>
              </a:spcAft>
              <a:defRPr sz="1800"/>
            </a:pPr>
            <a:r>
              <a:t>4. Build vs. Buy vs. Partner Decisions</a:t>
            </a:r>
          </a:p>
          <a:p>
            <a:pPr>
              <a:spcAft>
                <a:spcPts val="1000"/>
              </a:spcAft>
              <a:defRPr sz="1800"/>
            </a:pPr>
            <a:r>
              <a:t>5. Technology Roadmap Development</a:t>
            </a:r>
          </a:p>
          <a:p>
            <a:pPr>
              <a:spcAft>
                <a:spcPts val="1000"/>
              </a:spcAft>
              <a:defRPr sz="1800"/>
            </a:pPr>
            <a:r>
              <a:t>6. Real-World Case Studies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By the end of this session, you will be able to: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✓ Apply prioritization frameworks to technology initiatives</a:t>
            </a:r>
          </a:p>
          <a:p>
            <a:pPr>
              <a:spcAft>
                <a:spcPts val="1000"/>
              </a:spcAft>
              <a:defRPr sz="1800"/>
            </a:pPr>
            <a:r>
              <a:t>✓ Analyze portfolio balance across time horizons</a:t>
            </a:r>
          </a:p>
          <a:p>
            <a:pPr>
              <a:spcAft>
                <a:spcPts val="1000"/>
              </a:spcAft>
              <a:defRPr sz="1800"/>
            </a:pPr>
            <a:r>
              <a:t>✓ Create a technology roadmap with milestones</a:t>
            </a:r>
          </a:p>
          <a:p>
            <a:pPr>
              <a:spcAft>
                <a:spcPts val="1000"/>
              </a:spcAft>
              <a:defRPr sz="1800"/>
            </a:pPr>
            <a:r>
              <a:t>✓ Evaluate build vs buy vs partner trade-offs</a:t>
            </a:r>
          </a:p>
          <a:p>
            <a:pPr>
              <a:spcAft>
                <a:spcPts val="1000"/>
              </a:spcAft>
              <a:defRPr sz="1800"/>
            </a:pPr>
            <a:r>
              <a:t>✓ Develop a technology strategy aligned with business goals</a:t>
            </a:r>
          </a:p>
          <a:p>
            <a:pPr>
              <a:spcAft>
                <a:spcPts val="1000"/>
              </a:spcAft>
              <a:defRPr sz="1800"/>
            </a:pPr>
            <a:r>
              <a:t>✓ Justify investment decisions to stakeholders with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Technology Strategy Frameworks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Technology Adoption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Where should you be on the curve?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Innovators (2.5%):</a:t>
            </a:r>
          </a:p>
          <a:p>
            <a:pPr lvl="1">
              <a:spcAft>
                <a:spcPts val="1000"/>
              </a:spcAft>
              <a:defRPr sz="1800"/>
            </a:pPr>
            <a:r>
              <a:t>• Bleeding edge, very high risk, unproven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Early Adopters (13.5%):</a:t>
            </a:r>
          </a:p>
          <a:p>
            <a:pPr lvl="1">
              <a:spcAft>
                <a:spcPts val="1000"/>
              </a:spcAft>
              <a:defRPr sz="1800"/>
            </a:pPr>
            <a:r>
              <a:t>• Competitive advantage, proven in select cases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Early Majority (34%):</a:t>
            </a:r>
          </a:p>
          <a:p>
            <a:pPr lvl="1">
              <a:spcAft>
                <a:spcPts val="1000"/>
              </a:spcAft>
              <a:defRPr sz="1800"/>
            </a:pPr>
            <a:r>
              <a:t>• Mainstream adoption, proven value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Late Majority (34%):</a:t>
            </a:r>
          </a:p>
          <a:p>
            <a:pPr lvl="1">
              <a:spcAft>
                <a:spcPts val="1000"/>
              </a:spcAft>
              <a:defRPr sz="1800"/>
            </a:pPr>
            <a:r>
              <a:t>• Industry standard, lower risk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Decision: Varies by technology and strategic importance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Technology Assessment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Evaluate each technology on 5 dimensions: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1. Maturity: Innovator → Late Majority</a:t>
            </a:r>
          </a:p>
          <a:p>
            <a:pPr>
              <a:spcAft>
                <a:spcPts val="1000"/>
              </a:spcAft>
              <a:defRPr sz="1800"/>
            </a:pPr>
            <a:r>
              <a:t>2. Business Value: Low → Very High</a:t>
            </a:r>
          </a:p>
          <a:p>
            <a:pPr>
              <a:spcAft>
                <a:spcPts val="1000"/>
              </a:spcAft>
              <a:defRPr sz="1800"/>
            </a:pPr>
            <a:r>
              <a:t>3. Implementation Risk: Low → Very High</a:t>
            </a:r>
          </a:p>
          <a:p>
            <a:pPr>
              <a:spcAft>
                <a:spcPts val="1000"/>
              </a:spcAft>
              <a:defRPr sz="1800"/>
            </a:pPr>
            <a:r>
              <a:t>4. Time to Value: Immediate → 5+ years</a:t>
            </a:r>
          </a:p>
          <a:p>
            <a:pPr>
              <a:spcAft>
                <a:spcPts val="1000"/>
              </a:spcAft>
              <a:defRPr sz="1800"/>
            </a:pPr>
            <a:r>
              <a:t>5. Strategic Priority: Watch → Critical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💡 Map technologies on Maturity vs Value chart</a:t>
            </a:r>
          </a:p>
          <a:p>
            <a:pPr>
              <a:spcAft>
                <a:spcPts val="1000"/>
              </a:spcAft>
              <a:defRPr sz="1800"/>
            </a:pPr>
            <a:r>
              <a:t>    (See notebook for interactive visualization)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Project Prioritization Methodologies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Weighted Scoring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Our recommended approach: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Criteria (example weights):</a:t>
            </a:r>
          </a:p>
          <a:p>
            <a:pPr lvl="1">
              <a:spcAft>
                <a:spcPts val="1000"/>
              </a:spcAft>
              <a:defRPr sz="1800"/>
            </a:pPr>
            <a:r>
              <a:t>• Strategic Alignment: 30%</a:t>
            </a:r>
          </a:p>
          <a:p>
            <a:pPr lvl="1">
              <a:spcAft>
                <a:spcPts val="1000"/>
              </a:spcAft>
              <a:defRPr sz="1800"/>
            </a:pPr>
            <a:r>
              <a:t>• Financial Impact: 25%</a:t>
            </a:r>
          </a:p>
          <a:p>
            <a:pPr lvl="1">
              <a:spcAft>
                <a:spcPts val="1000"/>
              </a:spcAft>
              <a:defRPr sz="1800"/>
            </a:pPr>
            <a:r>
              <a:t>• Implementation Ease: 20%</a:t>
            </a:r>
          </a:p>
          <a:p>
            <a:pPr lvl="1">
              <a:spcAft>
                <a:spcPts val="1000"/>
              </a:spcAft>
              <a:defRPr sz="1800"/>
            </a:pPr>
            <a:r>
              <a:t>• Risk Level: 15%</a:t>
            </a:r>
          </a:p>
          <a:p>
            <a:pPr lvl="1">
              <a:spcAft>
                <a:spcPts val="1000"/>
              </a:spcAft>
              <a:defRPr sz="1800"/>
            </a:pPr>
            <a:r>
              <a:t>• Time to Value: 10%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Calculate weighted score for each project</a:t>
            </a:r>
          </a:p>
          <a:p>
            <a:pPr>
              <a:spcAft>
                <a:spcPts val="1000"/>
              </a:spcAft>
              <a:defRPr sz="1800"/>
            </a:pPr>
            <a:r>
              <a:t>Rank by score, apply judgment to top candidates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RICE Framework (Alternative)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From Intercom, focus on ROI per effort: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RICE = (Reach × Impact × Confidence) / Effort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Reach: How many users/processes affected?</a:t>
            </a:r>
          </a:p>
          <a:p>
            <a:pPr>
              <a:spcAft>
                <a:spcPts val="1000"/>
              </a:spcAft>
              <a:defRPr sz="1800"/>
            </a:pPr>
            <a:r>
              <a:t>Impact: How much improvement per user?</a:t>
            </a:r>
          </a:p>
          <a:p>
            <a:pPr>
              <a:spcAft>
                <a:spcPts val="1000"/>
              </a:spcAft>
              <a:defRPr sz="1800"/>
            </a:pPr>
            <a:r>
              <a:t>Confidence: How certain are estimates? (0-100%)</a:t>
            </a:r>
          </a:p>
          <a:p>
            <a:pPr>
              <a:spcAft>
                <a:spcPts val="1000"/>
              </a:spcAft>
              <a:defRPr sz="1800"/>
            </a:pPr>
            <a:r>
              <a:t>Effort: How much work required? (person-months)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Best for: Resource-constrained teams maximizing efficiency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Strategic Impact vs Difficulty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Classic 2×2 prioritization: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High Impact, Low Difficulty:</a:t>
            </a:r>
          </a:p>
          <a:p>
            <a:pPr lvl="1">
              <a:spcAft>
                <a:spcPts val="1000"/>
              </a:spcAft>
              <a:defRPr sz="1800"/>
            </a:pPr>
            <a:r>
              <a:t>→ QUICK WINS - Do these first!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High Impact, High Difficulty:</a:t>
            </a:r>
          </a:p>
          <a:p>
            <a:pPr lvl="1">
              <a:spcAft>
                <a:spcPts val="1000"/>
              </a:spcAft>
              <a:defRPr sz="1800"/>
            </a:pPr>
            <a:r>
              <a:t>→ STRATEGIC BETS - Plan carefully, allocate resources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Low Impact, Low Difficulty:</a:t>
            </a:r>
          </a:p>
          <a:p>
            <a:pPr lvl="1">
              <a:spcAft>
                <a:spcPts val="1000"/>
              </a:spcAft>
              <a:defRPr sz="1800"/>
            </a:pPr>
            <a:r>
              <a:t>→ FILL-INS - Do when capacity available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Low Impact, High Difficulty:</a:t>
            </a:r>
          </a:p>
          <a:p>
            <a:pPr lvl="1">
              <a:spcAft>
                <a:spcPts val="1000"/>
              </a:spcAft>
              <a:defRPr sz="1800"/>
            </a:pPr>
            <a:r>
              <a:t>→ TIME SINKS - Avoid or defer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Portfolio Management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Three Horizons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McKinsey's framework for balanced investment: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Horizon 1 (0-12 months): 60-70%</a:t>
            </a:r>
          </a:p>
          <a:p>
            <a:pPr lvl="1">
              <a:spcAft>
                <a:spcPts val="1000"/>
              </a:spcAft>
              <a:defRPr sz="1800"/>
            </a:pPr>
            <a:r>
              <a:t>• Incremental improvements</a:t>
            </a:r>
          </a:p>
          <a:p>
            <a:pPr lvl="1">
              <a:spcAft>
                <a:spcPts val="1000"/>
              </a:spcAft>
              <a:defRPr sz="1800"/>
            </a:pPr>
            <a:r>
              <a:t>• Extend current business</a:t>
            </a:r>
          </a:p>
          <a:p>
            <a:pPr lvl="1">
              <a:spcAft>
                <a:spcPts val="1000"/>
              </a:spcAft>
              <a:defRPr sz="1800"/>
            </a:pPr>
            <a:r>
              <a:t>• Low risk, proven ROI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Horizon 2 (1-3 years): 20-30%</a:t>
            </a:r>
          </a:p>
          <a:p>
            <a:pPr lvl="1">
              <a:spcAft>
                <a:spcPts val="1000"/>
              </a:spcAft>
              <a:defRPr sz="1800"/>
            </a:pPr>
            <a:r>
              <a:t>• Adjacent opportunities</a:t>
            </a:r>
          </a:p>
          <a:p>
            <a:pPr lvl="1">
              <a:spcAft>
                <a:spcPts val="1000"/>
              </a:spcAft>
              <a:defRPr sz="1800"/>
            </a:pPr>
            <a:r>
              <a:t>• Growth initiatives</a:t>
            </a:r>
          </a:p>
          <a:p>
            <a:pPr lvl="1">
              <a:spcAft>
                <a:spcPts val="1000"/>
              </a:spcAft>
              <a:defRPr sz="1800"/>
            </a:pPr>
            <a:r>
              <a:t>• Medium risk, validated concepts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Horizon 3 (3+ years): 10-20%</a:t>
            </a:r>
          </a:p>
          <a:p>
            <a:pPr lvl="1">
              <a:spcAft>
                <a:spcPts val="1000"/>
              </a:spcAft>
              <a:defRPr sz="1800"/>
            </a:pPr>
            <a:r>
              <a:t>• Transformational bets</a:t>
            </a:r>
          </a:p>
          <a:p>
            <a:pPr lvl="1">
              <a:spcAft>
                <a:spcPts val="1000"/>
              </a:spcAft>
              <a:defRPr sz="1800"/>
            </a:pPr>
            <a:r>
              <a:t>• New business models</a:t>
            </a:r>
          </a:p>
          <a:p>
            <a:pPr lvl="1">
              <a:spcAft>
                <a:spcPts val="1000"/>
              </a:spcAft>
              <a:defRPr sz="1800"/>
            </a:pPr>
            <a:r>
              <a:t>• High risk, high potential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Portfolio Balance Dimensions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Balance your portfolio across: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Time Horizon: H1 / H2 / H3 (60/25/15 split)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Risk Profile:</a:t>
            </a:r>
          </a:p>
          <a:p>
            <a:pPr lvl="1">
              <a:spcAft>
                <a:spcPts val="1000"/>
              </a:spcAft>
              <a:defRPr sz="1800"/>
            </a:pPr>
            <a:r>
              <a:t>• Low Risk: 50-60%</a:t>
            </a:r>
          </a:p>
          <a:p>
            <a:pPr lvl="1">
              <a:spcAft>
                <a:spcPts val="1000"/>
              </a:spcAft>
              <a:defRPr sz="1800"/>
            </a:pPr>
            <a:r>
              <a:t>• Medium Risk: 30-40%</a:t>
            </a:r>
          </a:p>
          <a:p>
            <a:pPr lvl="1">
              <a:spcAft>
                <a:spcPts val="1000"/>
              </a:spcAft>
              <a:defRPr sz="1800"/>
            </a:pPr>
            <a:r>
              <a:t>• High Risk: 10-20%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Business Impact:</a:t>
            </a:r>
          </a:p>
          <a:p>
            <a:pPr lvl="1">
              <a:spcAft>
                <a:spcPts val="1000"/>
              </a:spcAft>
              <a:defRPr sz="1800"/>
            </a:pPr>
            <a:r>
              <a:t>• Operational Excellence: 50-60%</a:t>
            </a:r>
          </a:p>
          <a:p>
            <a:pPr lvl="1">
              <a:spcAft>
                <a:spcPts val="1000"/>
              </a:spcAft>
              <a:defRPr sz="1800"/>
            </a:pPr>
            <a:r>
              <a:t>• Growth: 30-40%</a:t>
            </a:r>
          </a:p>
          <a:p>
            <a:pPr lvl="1">
              <a:spcAft>
                <a:spcPts val="1000"/>
              </a:spcAft>
              <a:defRPr sz="1800"/>
            </a:pPr>
            <a:r>
              <a:t>• Transformation: 10-20%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Portfolio Health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Regular check your portfolio balance: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Monthly Review:</a:t>
            </a:r>
          </a:p>
          <a:p>
            <a:pPr lvl="1">
              <a:spcAft>
                <a:spcPts val="1000"/>
              </a:spcAft>
              <a:defRPr sz="1800"/>
            </a:pPr>
            <a:r>
              <a:t>• Project progress, risks, resource needs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Quarterly Review:</a:t>
            </a:r>
          </a:p>
          <a:p>
            <a:pPr lvl="1">
              <a:spcAft>
                <a:spcPts val="1000"/>
              </a:spcAft>
              <a:defRPr sz="1800"/>
            </a:pPr>
            <a:r>
              <a:t>• Portfolio balance, reprioritization</a:t>
            </a:r>
          </a:p>
          <a:p>
            <a:pPr lvl="1">
              <a:spcAft>
                <a:spcPts val="1000"/>
              </a:spcAft>
              <a:defRPr sz="1800"/>
            </a:pPr>
            <a:r>
              <a:t>• Add/remove/reprioritize initiatives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Annual Review:</a:t>
            </a:r>
          </a:p>
          <a:p>
            <a:pPr lvl="1">
              <a:spcAft>
                <a:spcPts val="1000"/>
              </a:spcAft>
              <a:defRPr sz="1800"/>
            </a:pPr>
            <a:r>
              <a:t>• Strategic alignment</a:t>
            </a:r>
          </a:p>
          <a:p>
            <a:pPr lvl="1">
              <a:spcAft>
                <a:spcPts val="1000"/>
              </a:spcAft>
              <a:defRPr sz="1800"/>
            </a:pPr>
            <a:r>
              <a:t>• Major portfolio shifts</a:t>
            </a:r>
          </a:p>
          <a:p>
            <a:pPr lvl="1">
              <a:spcAft>
                <a:spcPts val="1000"/>
              </a:spcAft>
              <a:defRPr sz="1800"/>
            </a:pPr>
            <a:r>
              <a:t>• Budget reallocation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Build vs. Buy vs. Partner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Decision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BUILD when:</a:t>
            </a:r>
          </a:p>
          <a:p>
            <a:pPr lvl="1">
              <a:spcAft>
                <a:spcPts val="1000"/>
              </a:spcAft>
              <a:defRPr sz="1800"/>
            </a:pPr>
            <a:r>
              <a:t>✓ Core competitive differentiator</a:t>
            </a:r>
          </a:p>
          <a:p>
            <a:pPr lvl="1">
              <a:spcAft>
                <a:spcPts val="1000"/>
              </a:spcAft>
              <a:defRPr sz="1800"/>
            </a:pPr>
            <a:r>
              <a:t>✓ Unique requirements</a:t>
            </a:r>
          </a:p>
          <a:p>
            <a:pPr lvl="1">
              <a:spcAft>
                <a:spcPts val="1000"/>
              </a:spcAft>
              <a:defRPr sz="1800"/>
            </a:pPr>
            <a:r>
              <a:t>✓ IP protection critical</a:t>
            </a:r>
          </a:p>
          <a:p>
            <a:pPr lvl="1">
              <a:spcAft>
                <a:spcPts val="1000"/>
              </a:spcAft>
              <a:defRPr sz="1800"/>
            </a:pPr>
            <a:r>
              <a:t>✓ Have internal expertise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BUY when:</a:t>
            </a:r>
          </a:p>
          <a:p>
            <a:pPr lvl="1">
              <a:spcAft>
                <a:spcPts val="1000"/>
              </a:spcAft>
              <a:defRPr sz="1800"/>
            </a:pPr>
            <a:r>
              <a:t>✓ Commodity capability</a:t>
            </a:r>
          </a:p>
          <a:p>
            <a:pPr lvl="1">
              <a:spcAft>
                <a:spcPts val="1000"/>
              </a:spcAft>
              <a:defRPr sz="1800"/>
            </a:pPr>
            <a:r>
              <a:t>✓ Standard requirements</a:t>
            </a:r>
          </a:p>
          <a:p>
            <a:pPr lvl="1">
              <a:spcAft>
                <a:spcPts val="1000"/>
              </a:spcAft>
              <a:defRPr sz="1800"/>
            </a:pPr>
            <a:r>
              <a:t>✓ Fast time-to-market needed</a:t>
            </a:r>
          </a:p>
          <a:p>
            <a:pPr lvl="1">
              <a:spcAft>
                <a:spcPts val="1000"/>
              </a:spcAft>
              <a:defRPr sz="1800"/>
            </a:pPr>
            <a:r>
              <a:t>✓ Lack internal expertise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PARTNER when:</a:t>
            </a:r>
          </a:p>
          <a:p>
            <a:pPr lvl="1">
              <a:spcAft>
                <a:spcPts val="1000"/>
              </a:spcAft>
              <a:defRPr sz="1800"/>
            </a:pPr>
            <a:r>
              <a:t>✓ Emerging technology/expertise gap</a:t>
            </a:r>
          </a:p>
          <a:p>
            <a:pPr lvl="1">
              <a:spcAft>
                <a:spcPts val="1000"/>
              </a:spcAft>
              <a:defRPr sz="1800"/>
            </a:pPr>
            <a:r>
              <a:t>✓ Share development costs/risks</a:t>
            </a:r>
          </a:p>
          <a:p>
            <a:pPr lvl="1">
              <a:spcAft>
                <a:spcPts val="1000"/>
              </a:spcAft>
              <a:defRPr sz="1800"/>
            </a:pPr>
            <a:r>
              <a:t>✓ Flexibility needed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5-Factor Assessment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Score each capability on 5 factors: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1. Competitive Differentiation:</a:t>
            </a:r>
          </a:p>
          <a:p>
            <a:pPr lvl="1">
              <a:spcAft>
                <a:spcPts val="1000"/>
              </a:spcAft>
              <a:defRPr sz="1800"/>
            </a:pPr>
            <a:r>
              <a:t>   Core / Adjacent / Commodity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2. Internal Expertise:</a:t>
            </a:r>
          </a:p>
          <a:p>
            <a:pPr lvl="1">
              <a:spcAft>
                <a:spcPts val="1000"/>
              </a:spcAft>
              <a:defRPr sz="1800"/>
            </a:pPr>
            <a:r>
              <a:t>   High / Medium / Low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3. Uniqueness of Requirements:</a:t>
            </a:r>
          </a:p>
          <a:p>
            <a:pPr lvl="1">
              <a:spcAft>
                <a:spcPts val="1000"/>
              </a:spcAft>
              <a:defRPr sz="1800"/>
            </a:pPr>
            <a:r>
              <a:t>   Unique / Customizable / Standard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4. Time Pressure:</a:t>
            </a:r>
          </a:p>
          <a:p>
            <a:pPr lvl="1">
              <a:spcAft>
                <a:spcPts val="1000"/>
              </a:spcAft>
              <a:defRPr sz="1800"/>
            </a:pPr>
            <a:r>
              <a:t>   High / Medium / Low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5. Budget:</a:t>
            </a:r>
          </a:p>
          <a:p>
            <a:pPr lvl="1">
              <a:spcAft>
                <a:spcPts val="1000"/>
              </a:spcAft>
              <a:defRPr sz="1800"/>
            </a:pPr>
            <a:r>
              <a:t>   High / Medium / Low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Real-World Case Studies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Case Study: Netflix Technology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Three Horizons Approach: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H1 (60%): Optimize Current Business</a:t>
            </a:r>
          </a:p>
          <a:p>
            <a:pPr lvl="1">
              <a:spcAft>
                <a:spcPts val="1000"/>
              </a:spcAft>
              <a:defRPr sz="1800"/>
            </a:pPr>
            <a:r>
              <a:t>• Streaming infrastructure reliability</a:t>
            </a:r>
          </a:p>
          <a:p>
            <a:pPr lvl="1">
              <a:spcAft>
                <a:spcPts val="1000"/>
              </a:spcAft>
              <a:defRPr sz="1800"/>
            </a:pPr>
            <a:r>
              <a:t>• Recommendation engine improvements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H2 (25%): Build Adjacent</a:t>
            </a:r>
          </a:p>
          <a:p>
            <a:pPr lvl="1">
              <a:spcAft>
                <a:spcPts val="1000"/>
              </a:spcAft>
              <a:defRPr sz="1800"/>
            </a:pPr>
            <a:r>
              <a:t>• Mobile/offline viewing</a:t>
            </a:r>
          </a:p>
          <a:p>
            <a:pPr lvl="1">
              <a:spcAft>
                <a:spcPts val="1000"/>
              </a:spcAft>
              <a:defRPr sz="1800"/>
            </a:pPr>
            <a:r>
              <a:t>• Interactive content</a:t>
            </a:r>
          </a:p>
          <a:p>
            <a:pPr lvl="1">
              <a:spcAft>
                <a:spcPts val="1000"/>
              </a:spcAft>
              <a:defRPr sz="1800"/>
            </a:pPr>
            <a:r>
              <a:t>• Gaming integration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H3 (15%): Transform</a:t>
            </a:r>
          </a:p>
          <a:p>
            <a:pPr lvl="1">
              <a:spcAft>
                <a:spcPts val="1000"/>
              </a:spcAft>
              <a:defRPr sz="1800"/>
            </a:pPr>
            <a:r>
              <a:t>• AI content generation</a:t>
            </a:r>
          </a:p>
          <a:p>
            <a:pPr lvl="1">
              <a:spcAft>
                <a:spcPts val="1000"/>
              </a:spcAft>
              <a:defRPr sz="1800"/>
            </a:pPr>
            <a:r>
              <a:t>• Spatial computing experiences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Netflix: Build vs Buy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Strategic Choices: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BUILD:</a:t>
            </a:r>
          </a:p>
          <a:p>
            <a:pPr lvl="1">
              <a:spcAft>
                <a:spcPts val="1000"/>
              </a:spcAft>
              <a:defRPr sz="1800"/>
            </a:pPr>
            <a:r>
              <a:t>• Streaming infrastructure (core differentiator)</a:t>
            </a:r>
          </a:p>
          <a:p>
            <a:pPr lvl="1">
              <a:spcAft>
                <a:spcPts val="1000"/>
              </a:spcAft>
              <a:defRPr sz="1800"/>
            </a:pPr>
            <a:r>
              <a:t>• Recommendation algorithms (competitive moat)</a:t>
            </a:r>
          </a:p>
          <a:p>
            <a:pPr lvl="1">
              <a:spcAft>
                <a:spcPts val="1000"/>
              </a:spcAft>
              <a:defRPr sz="1800"/>
            </a:pPr>
            <a:r>
              <a:t>• Encoding/compression tech (quality + cost)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BUY/PARTNER:</a:t>
            </a:r>
          </a:p>
          <a:p>
            <a:pPr lvl="1">
              <a:spcAft>
                <a:spcPts val="1000"/>
              </a:spcAft>
              <a:defRPr sz="1800"/>
            </a:pPr>
            <a:r>
              <a:t>• CDNs globally (local expertise)</a:t>
            </a:r>
          </a:p>
          <a:p>
            <a:pPr lvl="1">
              <a:spcAft>
                <a:spcPts val="1000"/>
              </a:spcAft>
              <a:defRPr sz="1800"/>
            </a:pPr>
            <a:r>
              <a:t>• Content production tools (non-core)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Result: $1B+ annual savings, industry-leading NPS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Case Study: Capital One AI-First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Prioritization: Weighted Scoring Model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Criteria:</a:t>
            </a:r>
          </a:p>
          <a:p>
            <a:pPr lvl="1">
              <a:spcAft>
                <a:spcPts val="1000"/>
              </a:spcAft>
              <a:defRPr sz="1800"/>
            </a:pPr>
            <a:r>
              <a:t>• Customer Impact: 35%</a:t>
            </a:r>
          </a:p>
          <a:p>
            <a:pPr lvl="1">
              <a:spcAft>
                <a:spcPts val="1000"/>
              </a:spcAft>
              <a:defRPr sz="1800"/>
            </a:pPr>
            <a:r>
              <a:t>• Strategic Alignment: 25%</a:t>
            </a:r>
          </a:p>
          <a:p>
            <a:pPr lvl="1">
              <a:spcAft>
                <a:spcPts val="1000"/>
              </a:spcAft>
              <a:defRPr sz="1800"/>
            </a:pPr>
            <a:r>
              <a:t>• Financial ROI: 20%</a:t>
            </a:r>
          </a:p>
          <a:p>
            <a:pPr lvl="1">
              <a:spcAft>
                <a:spcPts val="1000"/>
              </a:spcAft>
              <a:defRPr sz="1800"/>
            </a:pPr>
            <a:r>
              <a:t>• Risk/Compliance: 15%</a:t>
            </a:r>
          </a:p>
          <a:p>
            <a:pPr lvl="1">
              <a:spcAft>
                <a:spcPts val="1000"/>
              </a:spcAft>
              <a:defRPr sz="1800"/>
            </a:pPr>
            <a:r>
              <a:t>• Speed to Market: 5%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Results:</a:t>
            </a:r>
          </a:p>
          <a:p>
            <a:pPr lvl="1">
              <a:spcAft>
                <a:spcPts val="1000"/>
              </a:spcAft>
              <a:defRPr sz="1800"/>
            </a:pPr>
            <a:r>
              <a:t>• $900M annual savings (cloud migration)</a:t>
            </a:r>
          </a:p>
          <a:p>
            <a:pPr lvl="1">
              <a:spcAft>
                <a:spcPts val="1000"/>
              </a:spcAft>
              <a:defRPr sz="1800"/>
            </a:pPr>
            <a:r>
              <a:t>• #1 digital bank (customer satisfaction)</a:t>
            </a:r>
          </a:p>
          <a:p>
            <a:pPr lvl="1">
              <a:spcAft>
                <a:spcPts val="1000"/>
              </a:spcAft>
              <a:defRPr sz="1800"/>
            </a:pPr>
            <a:r>
              <a:t>• 11,000+ technologists (vs 3,000 in 2010)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Case Study: John Deere Platform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Transformation Roadmap (2012-2025):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2012-2015: Foundations</a:t>
            </a:r>
          </a:p>
          <a:p>
            <a:pPr lvl="1">
              <a:spcAft>
                <a:spcPts val="1000"/>
              </a:spcAft>
              <a:defRPr sz="1800"/>
            </a:pPr>
            <a:r>
              <a:t>• Acquire precision ag startups</a:t>
            </a:r>
          </a:p>
          <a:p>
            <a:pPr lvl="1">
              <a:spcAft>
                <a:spcPts val="1000"/>
              </a:spcAft>
              <a:defRPr sz="1800"/>
            </a:pPr>
            <a:r>
              <a:t>• Build IoT sensor infrastructure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2016-2019: Platform Build</a:t>
            </a:r>
          </a:p>
          <a:p>
            <a:pPr lvl="1">
              <a:spcAft>
                <a:spcPts val="1000"/>
              </a:spcAft>
              <a:defRPr sz="1800"/>
            </a:pPr>
            <a:r>
              <a:t>• Launch Operations Center (cloud)</a:t>
            </a:r>
          </a:p>
          <a:p>
            <a:pPr lvl="1">
              <a:spcAft>
                <a:spcPts val="1000"/>
              </a:spcAft>
              <a:defRPr sz="1800"/>
            </a:pPr>
            <a:r>
              <a:t>• Build ML models for yield prediction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2020-2023: Ecosystem Expansion</a:t>
            </a:r>
          </a:p>
          <a:p>
            <a:pPr lvl="1">
              <a:spcAft>
                <a:spcPts val="1000"/>
              </a:spcAft>
              <a:defRPr sz="1800"/>
            </a:pPr>
            <a:r>
              <a:t>• Autonomous tractor capabilities</a:t>
            </a:r>
          </a:p>
          <a:p>
            <a:pPr lvl="1">
              <a:spcAft>
                <a:spcPts val="1000"/>
              </a:spcAft>
              <a:defRPr sz="1800"/>
            </a:pPr>
            <a:r>
              <a:t>• AI-driven optimization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Result: $1B+ software revenue, 20-30% yield improvements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Technology Roadmap Development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Roadmap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NOW (0-6 months):</a:t>
            </a:r>
          </a:p>
          <a:p>
            <a:pPr lvl="1">
              <a:spcAft>
                <a:spcPts val="1000"/>
              </a:spcAft>
              <a:defRPr sz="1800"/>
            </a:pPr>
            <a:r>
              <a:t>• Quick wins and critical needs</a:t>
            </a:r>
          </a:p>
          <a:p>
            <a:pPr lvl="1">
              <a:spcAft>
                <a:spcPts val="1000"/>
              </a:spcAft>
              <a:defRPr sz="1800"/>
            </a:pPr>
            <a:r>
              <a:t>• Foundation building</a:t>
            </a:r>
          </a:p>
          <a:p>
            <a:pPr lvl="1">
              <a:spcAft>
                <a:spcPts val="1000"/>
              </a:spcAft>
              <a:defRPr sz="1800"/>
            </a:pPr>
            <a:r>
              <a:t>• Proof of concepts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NEXT (6-18 months):</a:t>
            </a:r>
          </a:p>
          <a:p>
            <a:pPr lvl="1">
              <a:spcAft>
                <a:spcPts val="1000"/>
              </a:spcAft>
              <a:defRPr sz="1800"/>
            </a:pPr>
            <a:r>
              <a:t>• Scale successful pilots</a:t>
            </a:r>
          </a:p>
          <a:p>
            <a:pPr lvl="1">
              <a:spcAft>
                <a:spcPts val="1000"/>
              </a:spcAft>
              <a:defRPr sz="1800"/>
            </a:pPr>
            <a:r>
              <a:t>• Core capability buildout</a:t>
            </a:r>
          </a:p>
          <a:p>
            <a:pPr lvl="1">
              <a:spcAft>
                <a:spcPts val="1000"/>
              </a:spcAft>
              <a:defRPr sz="1800"/>
            </a:pPr>
            <a:r>
              <a:t>• Platform development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LATER (18+ months):</a:t>
            </a:r>
          </a:p>
          <a:p>
            <a:pPr lvl="1">
              <a:spcAft>
                <a:spcPts val="1000"/>
              </a:spcAft>
              <a:defRPr sz="1800"/>
            </a:pPr>
            <a:r>
              <a:t>• Advanced capabilities</a:t>
            </a:r>
          </a:p>
          <a:p>
            <a:pPr lvl="1">
              <a:spcAft>
                <a:spcPts val="1000"/>
              </a:spcAft>
              <a:defRPr sz="1800"/>
            </a:pPr>
            <a:r>
              <a:t>• Transformational initiatives</a:t>
            </a:r>
          </a:p>
          <a:p>
            <a:pPr lvl="1">
              <a:spcAft>
                <a:spcPts val="1000"/>
              </a:spcAft>
              <a:defRPr sz="1800"/>
            </a:pPr>
            <a:r>
              <a:t>• Emerging technologies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Roadmap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5 Principles for Effective Roadmaps: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1. Outcome-focused:</a:t>
            </a:r>
          </a:p>
          <a:p>
            <a:pPr lvl="1">
              <a:spcAft>
                <a:spcPts val="1000"/>
              </a:spcAft>
              <a:defRPr sz="1800"/>
            </a:pPr>
            <a:r>
              <a:t>   What business outcomes, not just features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2. Flexible:</a:t>
            </a:r>
          </a:p>
          <a:p>
            <a:pPr lvl="1">
              <a:spcAft>
                <a:spcPts val="1000"/>
              </a:spcAft>
              <a:defRPr sz="1800"/>
            </a:pPr>
            <a:r>
              <a:t>   Adapt to changing conditions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3. Transparent:</a:t>
            </a:r>
          </a:p>
          <a:p>
            <a:pPr lvl="1">
              <a:spcAft>
                <a:spcPts val="1000"/>
              </a:spcAft>
              <a:defRPr sz="1800"/>
            </a:pPr>
            <a:r>
              <a:t>   Visible to all stakeholders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4. Realistic:</a:t>
            </a:r>
          </a:p>
          <a:p>
            <a:pPr lvl="1">
              <a:spcAft>
                <a:spcPts val="1000"/>
              </a:spcAft>
              <a:defRPr sz="1800"/>
            </a:pPr>
            <a:r>
              <a:t>   Based on actual capacity and resources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5. Strategic:</a:t>
            </a:r>
          </a:p>
          <a:p>
            <a:pPr lvl="1">
              <a:spcAft>
                <a:spcPts val="1000"/>
              </a:spcAft>
              <a:defRPr sz="1800"/>
            </a:pPr>
            <a:r>
              <a:t>   Aligned with business objectives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Hands-On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Your Turn: Prioritize a Portfolio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Given 3 projects:</a:t>
            </a:r>
          </a:p>
          <a:p>
            <a:pPr lvl="1">
              <a:spcAft>
                <a:spcPts val="1000"/>
              </a:spcAft>
              <a:defRPr sz="1800"/>
            </a:pPr>
            <a:r>
              <a:t>A. Customer Service AI ($2.5M value, 6 months, medium risk)</a:t>
            </a:r>
          </a:p>
          <a:p>
            <a:pPr lvl="1">
              <a:spcAft>
                <a:spcPts val="1000"/>
              </a:spcAft>
              <a:defRPr sz="1800"/>
            </a:pPr>
            <a:r>
              <a:t>B. Predictive Maintenance ($3.5M value, 12 months, high risk)</a:t>
            </a:r>
          </a:p>
          <a:p>
            <a:pPr lvl="1">
              <a:spcAft>
                <a:spcPts val="1000"/>
              </a:spcAft>
              <a:defRPr sz="1800"/>
            </a:pPr>
            <a:r>
              <a:t>C. Code Review System ($0.8M value, 3 months, low risk)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Questions:</a:t>
            </a:r>
          </a:p>
          <a:p>
            <a:pPr lvl="1">
              <a:spcAft>
                <a:spcPts val="1000"/>
              </a:spcAft>
              <a:defRPr sz="1800"/>
            </a:pPr>
            <a:r>
              <a:t>1. Using weighted scoring, which would you prioritize?</a:t>
            </a:r>
          </a:p>
          <a:p>
            <a:pPr lvl="1">
              <a:spcAft>
                <a:spcPts val="1000"/>
              </a:spcAft>
              <a:defRPr sz="1800"/>
            </a:pPr>
            <a:r>
              <a:t>2. How would you balance the portfolio?</a:t>
            </a:r>
          </a:p>
          <a:p>
            <a:pPr lvl="1">
              <a:spcAft>
                <a:spcPts val="1000"/>
              </a:spcAft>
              <a:defRPr sz="1800"/>
            </a:pPr>
            <a:r>
              <a:t>3. Which would you build vs buy?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1. Strategy is choice - say 'no' to many opportunities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2. Use systematic prioritization frameworks</a:t>
            </a:r>
          </a:p>
          <a:p>
            <a:pPr lvl="1">
              <a:spcAft>
                <a:spcPts val="1000"/>
              </a:spcAft>
              <a:defRPr sz="1800"/>
            </a:pPr>
            <a:r>
              <a:t>   (Weighted scoring, RICE, 2×2 matrix)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3. Balance portfolio across horizons (60/25/15)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4. Build only core differentiators, buy/partner rest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5. Roadmaps evolve - plan with flexibility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6. Communicate constantly - strategy fails without buy-in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