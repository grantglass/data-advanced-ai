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4: RAG &amp; Prompt Chaining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Retrieval-Augmented Generation &amp; Multi-Step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Retrieval-Augmented Generation (RAG)</a:t>
            </a:r>
          </a:p>
          <a:p>
            <a:pPr>
              <a:spcAft>
                <a:spcPts val="1000"/>
              </a:spcAft>
              <a:defRPr sz="1800"/>
            </a:pPr>
            <a:r>
              <a:t>2. Vector Databases &amp; Embeddings</a:t>
            </a:r>
          </a:p>
          <a:p>
            <a:pPr>
              <a:spcAft>
                <a:spcPts val="1000"/>
              </a:spcAft>
              <a:defRPr sz="1800"/>
            </a:pPr>
            <a:r>
              <a:t>3. Prompt Chaining for Multi-Step Workflows</a:t>
            </a:r>
          </a:p>
          <a:p>
            <a:pPr>
              <a:spcAft>
                <a:spcPts val="1000"/>
              </a:spcAft>
              <a:defRPr sz="1800"/>
            </a:pPr>
            <a:r>
              <a:t>4. Building Complex LLM Applications</a:t>
            </a:r>
          </a:p>
          <a:p>
            <a:pPr>
              <a:spcAft>
                <a:spcPts val="1000"/>
              </a:spcAft>
              <a:defRPr sz="1800"/>
            </a:pPr>
            <a:r>
              <a:t>5. Production Architectures</a:t>
            </a:r>
          </a:p>
          <a:p>
            <a:pPr>
              <a:spcAft>
                <a:spcPts val="1000"/>
              </a:spcAft>
              <a:defRPr sz="1800"/>
            </a:pPr>
            <a:r>
              <a:t>6. Case Studies &amp;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Explain RAG and its advantages over fine-tuning</a:t>
            </a:r>
          </a:p>
          <a:p>
            <a:pPr>
              <a:spcAft>
                <a:spcPts val="1000"/>
              </a:spcAft>
              <a:defRPr sz="1800"/>
            </a:pPr>
            <a:r>
              <a:t>✓ Understand vector databases and semantic search</a:t>
            </a:r>
          </a:p>
          <a:p>
            <a:pPr>
              <a:spcAft>
                <a:spcPts val="1000"/>
              </a:spcAft>
              <a:defRPr sz="1800"/>
            </a:pPr>
            <a:r>
              <a:t>✓ Design prompt chains for complex workflows</a:t>
            </a:r>
          </a:p>
          <a:p>
            <a:pPr>
              <a:spcAft>
                <a:spcPts val="1000"/>
              </a:spcAft>
              <a:defRPr sz="1800"/>
            </a:pPr>
            <a:r>
              <a:t>✓ Build production-ready RAG applications</a:t>
            </a:r>
          </a:p>
          <a:p>
            <a:pPr>
              <a:spcAft>
                <a:spcPts val="1000"/>
              </a:spcAft>
              <a:defRPr sz="1800"/>
            </a:pPr>
            <a:r>
              <a:t>✓ Evaluate RAG vs alternatives for business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Retrieval-Augmented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RAG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LLMs have limitations: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❌ Knowledge cutoff (training data ends at specific date)</a:t>
            </a:r>
          </a:p>
          <a:p>
            <a:pPr lvl="1">
              <a:spcAft>
                <a:spcPts val="1000"/>
              </a:spcAft>
              <a:defRPr sz="1800"/>
            </a:pPr>
            <a:r>
              <a:t>Example: GPT-4 trained on data through Sep 2021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❌ No access to private/proprietary data</a:t>
            </a:r>
          </a:p>
          <a:p>
            <a:pPr lvl="1">
              <a:spcAft>
                <a:spcPts val="1000"/>
              </a:spcAft>
              <a:defRPr sz="1800"/>
            </a:pPr>
            <a:r>
              <a:t>Can't know your company policies, products, customers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❌ Hallucinations on unfamiliar topics</a:t>
            </a:r>
          </a:p>
          <a:p>
            <a:pPr lvl="1">
              <a:spcAft>
                <a:spcPts val="1000"/>
              </a:spcAft>
              <a:defRPr sz="1800"/>
            </a:pPr>
            <a:r>
              <a:t>Makes up plausible-sounding but wrong answers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Solution: RAG = Grounding LLMs in specific knowledge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RAG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Simple 3-Step Process: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Retrieve: Search knowledge base for relevant info</a:t>
            </a:r>
          </a:p>
          <a:p>
            <a:pPr lvl="1">
              <a:spcAft>
                <a:spcPts val="1000"/>
              </a:spcAft>
              <a:defRPr sz="1800"/>
            </a:pPr>
            <a:r>
              <a:t>Vector database finds semantically similar documents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Augment: Add retrieved info to prompt</a:t>
            </a:r>
          </a:p>
          <a:p>
            <a:pPr lvl="1">
              <a:spcAft>
                <a:spcPts val="1000"/>
              </a:spcAft>
              <a:defRPr sz="1800"/>
            </a:pPr>
            <a:r>
              <a:t>Based on these documents: [docs], answer: [question]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Generate: LLM creates response grounded in docs</a:t>
            </a:r>
          </a:p>
          <a:p>
            <a:pPr lvl="1">
              <a:spcAft>
                <a:spcPts val="1000"/>
              </a:spcAft>
              <a:defRPr sz="1800"/>
            </a:pPr>
            <a:r>
              <a:t>Cites sources, reduced hallucinations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Result: Accurate, verifiable, up-to-date answers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RAG vs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When to use each: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RAG:</a:t>
            </a:r>
          </a:p>
          <a:p>
            <a:pPr lvl="1">
              <a:spcAft>
                <a:spcPts val="1000"/>
              </a:spcAft>
              <a:defRPr sz="1800"/>
            </a:pPr>
            <a:r>
              <a:t>✓ Knowledge changes frequently (docs, policies)</a:t>
            </a:r>
          </a:p>
          <a:p>
            <a:pPr lvl="1">
              <a:spcAft>
                <a:spcPts val="1000"/>
              </a:spcAft>
              <a:defRPr sz="1800"/>
            </a:pPr>
            <a:r>
              <a:t>✓ Need source citations</a:t>
            </a:r>
          </a:p>
          <a:p>
            <a:pPr lvl="1">
              <a:spcAft>
                <a:spcPts val="1000"/>
              </a:spcAft>
              <a:defRPr sz="1800"/>
            </a:pPr>
            <a:r>
              <a:t>✓ Lower cost ($100s for vector DB)</a:t>
            </a:r>
          </a:p>
          <a:p>
            <a:pPr lvl="1">
              <a:spcAft>
                <a:spcPts val="1000"/>
              </a:spcAft>
              <a:defRPr sz="1800"/>
            </a:pPr>
            <a:r>
              <a:t>✓ Faster deployment (days)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Fine-Tuning:</a:t>
            </a:r>
          </a:p>
          <a:p>
            <a:pPr lvl="1">
              <a:spcAft>
                <a:spcPts val="1000"/>
              </a:spcAft>
              <a:defRPr sz="1800"/>
            </a:pPr>
            <a:r>
              <a:t>✓ New task/capability (not just knowledge)</a:t>
            </a:r>
          </a:p>
          <a:p>
            <a:pPr lvl="1">
              <a:spcAft>
                <a:spcPts val="1000"/>
              </a:spcAft>
              <a:defRPr sz="1800"/>
            </a:pPr>
            <a:r>
              <a:t>✓ Specific style/format needed</a:t>
            </a:r>
          </a:p>
          <a:p>
            <a:pPr lvl="1">
              <a:spcAft>
                <a:spcPts val="1000"/>
              </a:spcAft>
              <a:defRPr sz="1800"/>
            </a:pPr>
            <a:r>
              <a:t>✓ Higher cost ($1000s-10000s)</a:t>
            </a:r>
          </a:p>
          <a:p>
            <a:pPr lvl="1">
              <a:spcAft>
                <a:spcPts val="1000"/>
              </a:spcAft>
              <a:defRPr sz="1800"/>
            </a:pPr>
            <a:r>
              <a:t>✓ Slower deployment (weeks)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Vector Databases &amp; Embeddings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Embeddings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Concept: Convert text to numbers (vectors)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Example:</a:t>
            </a:r>
          </a:p>
          <a:p>
            <a:pPr lvl="1">
              <a:spcAft>
                <a:spcPts val="1000"/>
              </a:spcAft>
              <a:defRPr sz="1800"/>
            </a:pPr>
            <a:r>
              <a:t>'dog' → [0.12, -0.43, 0.87, ...] (1536 dimensions)</a:t>
            </a:r>
          </a:p>
          <a:p>
            <a:pPr lvl="1">
              <a:spcAft>
                <a:spcPts val="1000"/>
              </a:spcAft>
              <a:defRPr sz="1800"/>
            </a:pPr>
            <a:r>
              <a:t>'puppy' → [0.15, -0.41, 0.89, ...] (similar numbers!)</a:t>
            </a:r>
          </a:p>
          <a:p>
            <a:pPr lvl="1">
              <a:spcAft>
                <a:spcPts val="1000"/>
              </a:spcAft>
              <a:defRPr sz="1800"/>
            </a:pPr>
            <a:r>
              <a:t>'car' → [-0.67, 0.23, -0.11, ...] (different numbers)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Math: Cosine similarity measures closeness</a:t>
            </a:r>
          </a:p>
          <a:p>
            <a:pPr lvl="1">
              <a:spcAft>
                <a:spcPts val="1000"/>
              </a:spcAft>
              <a:defRPr sz="1800"/>
            </a:pPr>
            <a:r>
              <a:t>dog ↔ puppy: 0.95 (very similar)</a:t>
            </a:r>
          </a:p>
          <a:p>
            <a:pPr lvl="1">
              <a:spcAft>
                <a:spcPts val="1000"/>
              </a:spcAft>
              <a:defRPr sz="1800"/>
            </a:pPr>
            <a:r>
              <a:t>dog ↔ car: 0.23 (not similar)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This enables semantic search!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Popular 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Production Options: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Pinecone:</a:t>
            </a:r>
          </a:p>
          <a:p>
            <a:pPr lvl="1">
              <a:spcAft>
                <a:spcPts val="1000"/>
              </a:spcAft>
              <a:defRPr sz="1800"/>
            </a:pPr>
            <a:r>
              <a:t>• Fully managed, easy to use</a:t>
            </a:r>
          </a:p>
          <a:p>
            <a:pPr lvl="1">
              <a:spcAft>
                <a:spcPts val="1000"/>
              </a:spcAft>
              <a:defRPr sz="1800"/>
            </a:pPr>
            <a:r>
              <a:t>• $70/month + usage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Weaviate:</a:t>
            </a:r>
          </a:p>
          <a:p>
            <a:pPr lvl="1">
              <a:spcAft>
                <a:spcPts val="1000"/>
              </a:spcAft>
              <a:defRPr sz="1800"/>
            </a:pPr>
            <a:r>
              <a:t>• Open source, self-hosted</a:t>
            </a:r>
          </a:p>
          <a:p>
            <a:pPr lvl="1">
              <a:spcAft>
                <a:spcPts val="1000"/>
              </a:spcAft>
              <a:defRPr sz="1800"/>
            </a:pPr>
            <a:r>
              <a:t>• Free (infrastructure costs only)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ChromaDB:</a:t>
            </a:r>
          </a:p>
          <a:p>
            <a:pPr lvl="1">
              <a:spcAft>
                <a:spcPts val="1000"/>
              </a:spcAft>
              <a:defRPr sz="1800"/>
            </a:pPr>
            <a:r>
              <a:t>• Lightweight, great for prototypes</a:t>
            </a:r>
          </a:p>
          <a:p>
            <a:pPr lvl="1">
              <a:spcAft>
                <a:spcPts val="1000"/>
              </a:spcAft>
              <a:defRPr sz="1800"/>
            </a:pPr>
            <a:r>
              <a:t>• Free, runs locally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Recommendation: Start with ChromaDB, scale to Pinecone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Prompt Chaining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Prompt Chaining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Definition: Output of one prompt → Input to next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Simple Chain:</a:t>
            </a:r>
          </a:p>
          <a:p>
            <a:pPr lvl="1">
              <a:spcAft>
                <a:spcPts val="1000"/>
              </a:spcAft>
              <a:defRPr sz="1800"/>
            </a:pPr>
            <a:r>
              <a:t>Prompt 1: 'Summarize this article' → Summary</a:t>
            </a:r>
          </a:p>
          <a:p>
            <a:pPr lvl="1">
              <a:spcAft>
                <a:spcPts val="1000"/>
              </a:spcAft>
              <a:defRPr sz="1800"/>
            </a:pPr>
            <a:r>
              <a:t>Prompt 2: 'Translate summary to Spanish' → Translation</a:t>
            </a:r>
          </a:p>
          <a:p>
            <a:pPr lvl="1">
              <a:spcAft>
                <a:spcPts val="1000"/>
              </a:spcAft>
              <a:defRPr sz="1800"/>
            </a:pPr>
            <a:r>
              <a:t>Prompt 3: 'Create 3 tweet versions' → Tweets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Why Chain?</a:t>
            </a:r>
          </a:p>
          <a:p>
            <a:pPr lvl="1">
              <a:spcAft>
                <a:spcPts val="1000"/>
              </a:spcAft>
              <a:defRPr sz="1800"/>
            </a:pPr>
            <a:r>
              <a:t>• Break complex tasks into manageable steps</a:t>
            </a:r>
          </a:p>
          <a:p>
            <a:pPr lvl="1">
              <a:spcAft>
                <a:spcPts val="1000"/>
              </a:spcAft>
              <a:defRPr sz="1800"/>
            </a:pPr>
            <a:r>
              <a:t>• Specialize each prompt for one thing</a:t>
            </a:r>
          </a:p>
          <a:p>
            <a:pPr lvl="1">
              <a:spcAft>
                <a:spcPts val="1000"/>
              </a:spcAft>
              <a:defRPr sz="1800"/>
            </a:pPr>
            <a:r>
              <a:t>• Debug failures more easily</a:t>
            </a:r>
          </a:p>
          <a:p>
            <a:pPr lvl="1">
              <a:spcAft>
                <a:spcPts val="1000"/>
              </a:spcAft>
              <a:defRPr sz="1800"/>
            </a:pPr>
            <a:r>
              <a:t>• Reuse components across applications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Production RAG +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Real-World Architecture: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Step 1: Query Understanding</a:t>
            </a:r>
          </a:p>
          <a:p>
            <a:pPr lvl="1">
              <a:spcAft>
                <a:spcPts val="1000"/>
              </a:spcAft>
              <a:defRPr sz="1800"/>
            </a:pPr>
            <a:r>
              <a:t>"What did our Q3 sales look like?"</a:t>
            </a:r>
          </a:p>
          <a:p>
            <a:pPr lvl="1">
              <a:spcAft>
                <a:spcPts val="1000"/>
              </a:spcAft>
              <a:defRPr sz="1800"/>
            </a:pPr>
            <a:r>
              <a:t>→ Extract: time period (Q3), metric (sales)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Step 2: Retrieval</a:t>
            </a:r>
          </a:p>
          <a:p>
            <a:pPr lvl="1">
              <a:spcAft>
                <a:spcPts val="1000"/>
              </a:spcAft>
              <a:defRPr sz="1800"/>
            </a:pPr>
            <a:r>
              <a:t>→ Search vector DB for Q3 sales documents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Step 3: Synthesis</a:t>
            </a:r>
          </a:p>
          <a:p>
            <a:pPr lvl="1">
              <a:spcAft>
                <a:spcPts val="1000"/>
              </a:spcAft>
              <a:defRPr sz="1800"/>
            </a:pPr>
            <a:r>
              <a:t>→ LLM: 'Based on these docs, answer: [query]'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Step 4: Formatting</a:t>
            </a:r>
          </a:p>
          <a:p>
            <a:pPr lvl="1">
              <a:spcAft>
                <a:spcPts val="1000"/>
              </a:spcAft>
              <a:defRPr sz="1800"/>
            </a:pPr>
            <a:r>
              <a:t>→ Convert to business report format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RAG grounds LLMs in specific knowledge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Vector databases enable semantic search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Prompt chaining breaks complexity into steps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RAG + Chaining = production-ready applications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Start simple (ChromaDB), scale as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