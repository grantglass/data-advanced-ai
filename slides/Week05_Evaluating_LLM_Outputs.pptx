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5: Evaluating LLM Outputs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Metrics and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Why Evaluation Matters</a:t>
            </a:r>
          </a:p>
          <a:p>
            <a:pPr>
              <a:spcAft>
                <a:spcPts val="1000"/>
              </a:spcAft>
              <a:defRPr sz="1800"/>
            </a:pPr>
            <a:r>
              <a:t>2. Evaluation Metrics (BLEU, ROUGE, F1)</a:t>
            </a:r>
          </a:p>
          <a:p>
            <a:pPr>
              <a:spcAft>
                <a:spcPts val="1000"/>
              </a:spcAft>
              <a:defRPr sz="1800"/>
            </a:pPr>
            <a:r>
              <a:t>3. Quality Assessment Frameworks</a:t>
            </a:r>
          </a:p>
          <a:p>
            <a:pPr>
              <a:spcAft>
                <a:spcPts val="1000"/>
              </a:spcAft>
              <a:defRPr sz="1800"/>
            </a:pPr>
            <a:r>
              <a:t>4. Bias Detection &amp; Safety</a:t>
            </a:r>
          </a:p>
          <a:p>
            <a:pPr>
              <a:spcAft>
                <a:spcPts val="1000"/>
              </a:spcAft>
              <a:defRPr sz="1800"/>
            </a:pPr>
            <a:r>
              <a:t>5. Business Suitability Criteria</a:t>
            </a:r>
          </a:p>
          <a:p>
            <a:pPr>
              <a:spcAft>
                <a:spcPts val="1000"/>
              </a:spcAft>
              <a:defRPr sz="1800"/>
            </a:pPr>
            <a:r>
              <a:t>6. Building Evaluation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Apply standard evaluation metrics to LLM outputs</a:t>
            </a:r>
          </a:p>
          <a:p>
            <a:pPr>
              <a:spcAft>
                <a:spcPts val="1000"/>
              </a:spcAft>
              <a:defRPr sz="1800"/>
            </a:pPr>
            <a:r>
              <a:t>✓ Design quality assessment frameworks</a:t>
            </a:r>
          </a:p>
          <a:p>
            <a:pPr>
              <a:spcAft>
                <a:spcPts val="1000"/>
              </a:spcAft>
              <a:defRPr sz="1800"/>
            </a:pPr>
            <a:r>
              <a:t>✓ Detect and mitigate bias in AI systems</a:t>
            </a:r>
          </a:p>
          <a:p>
            <a:pPr>
              <a:spcAft>
                <a:spcPts val="1000"/>
              </a:spcAft>
              <a:defRPr sz="1800"/>
            </a:pPr>
            <a:r>
              <a:t>✓ Evaluate business suitability of LLM applications</a:t>
            </a:r>
          </a:p>
          <a:p>
            <a:pPr>
              <a:spcAft>
                <a:spcPts val="1000"/>
              </a:spcAft>
              <a:defRPr sz="1800"/>
            </a:pPr>
            <a:r>
              <a:t>✓ Build systematic evaluation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Why Evaluation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Evaluation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LLMs are probabilistic, not deterministic: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Same prompt can yield different outputs:</a:t>
            </a:r>
          </a:p>
          <a:p>
            <a:pPr lvl="1">
              <a:spcAft>
                <a:spcPts val="1000"/>
              </a:spcAft>
              <a:defRPr sz="1800"/>
            </a:pPr>
            <a:r>
              <a:t>Run 1: 'The customer seems frustrated...'</a:t>
            </a:r>
          </a:p>
          <a:p>
            <a:pPr lvl="1">
              <a:spcAft>
                <a:spcPts val="1000"/>
              </a:spcAft>
              <a:defRPr sz="1800"/>
            </a:pPr>
            <a:r>
              <a:t>Run 2: 'The customer appears upset...'</a:t>
            </a:r>
          </a:p>
          <a:p>
            <a:pPr lvl="1">
              <a:spcAft>
                <a:spcPts val="1000"/>
              </a:spcAft>
              <a:defRPr sz="1800"/>
            </a:pPr>
            <a:r>
              <a:t>Run 3: 'The customer is angry...'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Which is 'correct'?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Need systematic evaluation, not gut feel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Evaluation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6 Critical Dimensions: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Accuracy: Factually correct?</a:t>
            </a:r>
          </a:p>
          <a:p>
            <a:pPr>
              <a:spcAft>
                <a:spcPts val="1000"/>
              </a:spcAft>
              <a:defRPr sz="1800"/>
            </a:pPr>
            <a:r>
              <a:t>2. Relevance: Answers the question?</a:t>
            </a:r>
          </a:p>
          <a:p>
            <a:pPr>
              <a:spcAft>
                <a:spcPts val="1000"/>
              </a:spcAft>
              <a:defRPr sz="1800"/>
            </a:pPr>
            <a:r>
              <a:t>3. Coherence: Logical and consistent?</a:t>
            </a:r>
          </a:p>
          <a:p>
            <a:pPr>
              <a:spcAft>
                <a:spcPts val="1000"/>
              </a:spcAft>
              <a:defRPr sz="1800"/>
            </a:pPr>
            <a:r>
              <a:t>4. Fluency: Natural language?</a:t>
            </a:r>
          </a:p>
          <a:p>
            <a:pPr>
              <a:spcAft>
                <a:spcPts val="1000"/>
              </a:spcAft>
              <a:defRPr sz="1800"/>
            </a:pPr>
            <a:r>
              <a:t>5. Safety: No harmful content?</a:t>
            </a:r>
          </a:p>
          <a:p>
            <a:pPr>
              <a:spcAft>
                <a:spcPts val="1000"/>
              </a:spcAft>
              <a:defRPr sz="1800"/>
            </a:pPr>
            <a:r>
              <a:t>6. Bias: Fair and unbiased?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Each dimension needs specific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BLEU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BiLingual Evaluation Understudy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What it measures:</a:t>
            </a:r>
          </a:p>
          <a:p>
            <a:pPr lvl="1">
              <a:spcAft>
                <a:spcPts val="1000"/>
              </a:spcAft>
              <a:defRPr sz="1800"/>
            </a:pPr>
            <a:r>
              <a:t>Overlap between AI output and reference text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Score: 0-1 (1 = perfect match)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Reference: 'The customer is unhappy'</a:t>
            </a:r>
          </a:p>
          <a:p>
            <a:pPr lvl="1">
              <a:spcAft>
                <a:spcPts val="1000"/>
              </a:spcAft>
              <a:defRPr sz="1800"/>
            </a:pPr>
            <a:r>
              <a:t>Output: 'The customer is upset'</a:t>
            </a:r>
          </a:p>
          <a:p>
            <a:pPr lvl="1">
              <a:spcAft>
                <a:spcPts val="1000"/>
              </a:spcAft>
              <a:defRPr sz="1800"/>
            </a:pPr>
            <a:r>
              <a:t>BLEU: 0.67 (2 of 3 words match)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Best For: Translation, summarization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ROUGE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Recall-Oriented Understudy for Gisting Evaluation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What it measures:</a:t>
            </a:r>
          </a:p>
          <a:p>
            <a:pPr lvl="1">
              <a:spcAft>
                <a:spcPts val="1000"/>
              </a:spcAft>
              <a:defRPr sz="1800"/>
            </a:pPr>
            <a:r>
              <a:t>How much of reference appears in output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Variants:</a:t>
            </a:r>
          </a:p>
          <a:p>
            <a:pPr lvl="1">
              <a:spcAft>
                <a:spcPts val="1000"/>
              </a:spcAft>
              <a:defRPr sz="1800"/>
            </a:pPr>
            <a:r>
              <a:t>ROUGE-N: N-gram overlap</a:t>
            </a:r>
          </a:p>
          <a:p>
            <a:pPr lvl="1">
              <a:spcAft>
                <a:spcPts val="1000"/>
              </a:spcAft>
              <a:defRPr sz="1800"/>
            </a:pPr>
            <a:r>
              <a:t>ROUGE-L: Longest common subsequence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Best For: Summaries, content generation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Limitation: Only measures overlap, not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F1 Score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For Classification Tasks: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Accuracy: % of correct predictions</a:t>
            </a:r>
          </a:p>
          <a:p>
            <a:pPr lvl="1">
              <a:spcAft>
                <a:spcPts val="1000"/>
              </a:spcAft>
              <a:defRPr sz="1800"/>
            </a:pPr>
            <a:r>
              <a:t>Good when classes balanced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Precision: Of predicted positives, how many correct?</a:t>
            </a:r>
          </a:p>
          <a:p>
            <a:pPr lvl="1">
              <a:spcAft>
                <a:spcPts val="1000"/>
              </a:spcAft>
              <a:defRPr sz="1800"/>
            </a:pPr>
            <a:r>
              <a:t>Important when false positives costly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Recall: Of actual positives, how many found?</a:t>
            </a:r>
          </a:p>
          <a:p>
            <a:pPr lvl="1">
              <a:spcAft>
                <a:spcPts val="1000"/>
              </a:spcAft>
              <a:defRPr sz="1800"/>
            </a:pPr>
            <a:r>
              <a:t>Important when false negatives costly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F1: Harmonic mean of precision &amp; recall</a:t>
            </a:r>
          </a:p>
          <a:p>
            <a:pPr lvl="1">
              <a:spcAft>
                <a:spcPts val="1000"/>
              </a:spcAft>
              <a:defRPr sz="1800"/>
            </a:pPr>
            <a:r>
              <a:t>Balanced metric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Quality Assessment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Human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Gold Standard: Human Reviewers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Process:</a:t>
            </a:r>
          </a:p>
          <a:p>
            <a:pPr lvl="1">
              <a:spcAft>
                <a:spcPts val="1000"/>
              </a:spcAft>
              <a:defRPr sz="1800"/>
            </a:pPr>
            <a:r>
              <a:t>1. Sample outputs (100-1000 examples)</a:t>
            </a:r>
          </a:p>
          <a:p>
            <a:pPr lvl="1">
              <a:spcAft>
                <a:spcPts val="1000"/>
              </a:spcAft>
              <a:defRPr sz="1800"/>
            </a:pPr>
            <a:r>
              <a:t>2. Multiple raters score each on criteria</a:t>
            </a:r>
          </a:p>
          <a:p>
            <a:pPr lvl="1">
              <a:spcAft>
                <a:spcPts val="1000"/>
              </a:spcAft>
              <a:defRPr sz="1800"/>
            </a:pPr>
            <a:r>
              <a:t>3. Calculate inter-rater agreement</a:t>
            </a:r>
          </a:p>
          <a:p>
            <a:pPr lvl="1">
              <a:spcAft>
                <a:spcPts val="1000"/>
              </a:spcAft>
              <a:defRPr sz="1800"/>
            </a:pPr>
            <a:r>
              <a:t>4. Identify patterns in failures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Rubric (1-5 scale):</a:t>
            </a:r>
          </a:p>
          <a:p>
            <a:pPr lvl="1">
              <a:spcAft>
                <a:spcPts val="1000"/>
              </a:spcAft>
              <a:defRPr sz="1800"/>
            </a:pPr>
            <a:r>
              <a:t>5: Excellent, no issues</a:t>
            </a:r>
          </a:p>
          <a:p>
            <a:pPr lvl="1">
              <a:spcAft>
                <a:spcPts val="1000"/>
              </a:spcAft>
              <a:defRPr sz="1800"/>
            </a:pPr>
            <a:r>
              <a:t>3: Acceptable, minor issues</a:t>
            </a:r>
          </a:p>
          <a:p>
            <a:pPr lvl="1">
              <a:spcAft>
                <a:spcPts val="1000"/>
              </a:spcAft>
              <a:defRPr sz="1800"/>
            </a:pPr>
            <a:r>
              <a:t>1: Unacceptable, major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LLM-as-Judge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Use LLM to evaluate other LLM outputs: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Prompt Template:</a:t>
            </a:r>
          </a:p>
          <a:p>
            <a:pPr lvl="1">
              <a:spcAft>
                <a:spcPts val="1000"/>
              </a:spcAft>
              <a:defRPr sz="1800"/>
            </a:pPr>
            <a:r>
              <a:t>'Rate this response on: accuracy, relevance, tone.'</a:t>
            </a:r>
          </a:p>
          <a:p>
            <a:pPr lvl="1">
              <a:spcAft>
                <a:spcPts val="1000"/>
              </a:spcAft>
              <a:defRPr sz="1800"/>
            </a:pPr>
            <a:r>
              <a:t>'Use scale 1-5. Explain your reasoning.'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Advantages:</a:t>
            </a:r>
          </a:p>
          <a:p>
            <a:pPr lvl="1">
              <a:spcAft>
                <a:spcPts val="1000"/>
              </a:spcAft>
              <a:defRPr sz="1800"/>
            </a:pPr>
            <a:r>
              <a:t>• Fast (seconds vs hours)</a:t>
            </a:r>
          </a:p>
          <a:p>
            <a:pPr lvl="1">
              <a:spcAft>
                <a:spcPts val="1000"/>
              </a:spcAft>
              <a:defRPr sz="1800"/>
            </a:pPr>
            <a:r>
              <a:t>• Cheap ($0.01 vs $5 per eval)</a:t>
            </a:r>
          </a:p>
          <a:p>
            <a:pPr lvl="1">
              <a:spcAft>
                <a:spcPts val="1000"/>
              </a:spcAft>
              <a:defRPr sz="1800"/>
            </a:pPr>
            <a:r>
              <a:t>• Scalable (1000s of evals)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Limitations:</a:t>
            </a:r>
          </a:p>
          <a:p>
            <a:pPr lvl="1">
              <a:spcAft>
                <a:spcPts val="1000"/>
              </a:spcAft>
              <a:defRPr sz="1800"/>
            </a:pPr>
            <a:r>
              <a:t>• Can be biased</a:t>
            </a:r>
          </a:p>
          <a:p>
            <a:pPr lvl="1">
              <a:spcAft>
                <a:spcPts val="1000"/>
              </a:spcAft>
              <a:defRPr sz="1800"/>
            </a:pPr>
            <a:r>
              <a:t>• Should validate against human evals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Bias &amp; Safety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Bias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Types of Bias: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Gender Bias:</a:t>
            </a:r>
          </a:p>
          <a:p>
            <a:pPr lvl="1">
              <a:spcAft>
                <a:spcPts val="1000"/>
              </a:spcAft>
              <a:defRPr sz="1800"/>
            </a:pPr>
            <a:r>
              <a:t>"The doctor... he" vs "The nurse... she"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Racial Bias:</a:t>
            </a:r>
          </a:p>
          <a:p>
            <a:pPr lvl="1">
              <a:spcAft>
                <a:spcPts val="1000"/>
              </a:spcAft>
              <a:defRPr sz="1800"/>
            </a:pPr>
            <a:r>
              <a:t>Assumptions based on names, location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Socioeconomic Bias:</a:t>
            </a:r>
          </a:p>
          <a:p>
            <a:pPr lvl="1">
              <a:spcAft>
                <a:spcPts val="1000"/>
              </a:spcAft>
              <a:defRPr sz="1800"/>
            </a:pPr>
            <a:r>
              <a:t>Different treatment based on indicators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Testing:</a:t>
            </a:r>
          </a:p>
          <a:p>
            <a:pPr lvl="1">
              <a:spcAft>
                <a:spcPts val="1000"/>
              </a:spcAft>
              <a:defRPr sz="1800"/>
            </a:pPr>
            <a:r>
              <a:t>• Run same prompt with different demographics</a:t>
            </a:r>
          </a:p>
          <a:p>
            <a:pPr lvl="1">
              <a:spcAft>
                <a:spcPts val="1000"/>
              </a:spcAft>
              <a:defRPr sz="1800"/>
            </a:pPr>
            <a:r>
              <a:t>• Measure output variation</a:t>
            </a:r>
          </a:p>
          <a:p>
            <a:pPr lvl="1">
              <a:spcAft>
                <a:spcPts val="1000"/>
              </a:spcAft>
              <a:defRPr sz="1800"/>
            </a:pPr>
            <a:r>
              <a:t>• Flag significant differences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Systematic evaluation prevents production failures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Use multiple metrics (BLEU, ROUGE, F1, human)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LLM-as-judge scales evaluation efficiently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Always test for bias and safety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Build evaluation into development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