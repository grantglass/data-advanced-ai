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7: Multi-Agent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Collaboration &amp; Coordination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Multi-Agent Systems (MAS) Concepts</a:t>
            </a:r>
          </a:p>
          <a:p>
            <a:pPr>
              <a:spcAft>
                <a:spcPts val="1000"/>
              </a:spcAft>
              <a:defRPr sz="1800"/>
            </a:pPr>
            <a:r>
              <a:t>2. Communication Protocols</a:t>
            </a:r>
          </a:p>
          <a:p>
            <a:pPr>
              <a:spcAft>
                <a:spcPts val="1000"/>
              </a:spcAft>
              <a:defRPr sz="1800"/>
            </a:pPr>
            <a:r>
              <a:t>3. Coordination Strategies</a:t>
            </a:r>
          </a:p>
          <a:p>
            <a:pPr>
              <a:spcAft>
                <a:spcPts val="1000"/>
              </a:spcAft>
              <a:defRPr sz="1800"/>
            </a:pPr>
            <a:r>
              <a:t>4. Agent Collaboration Patterns</a:t>
            </a:r>
          </a:p>
          <a:p>
            <a:pPr>
              <a:spcAft>
                <a:spcPts val="1000"/>
              </a:spcAft>
              <a:defRPr sz="1800"/>
            </a:pPr>
            <a:r>
              <a:t>5. Business Applications</a:t>
            </a:r>
          </a:p>
          <a:p>
            <a:pPr>
              <a:spcAft>
                <a:spcPts val="1000"/>
              </a:spcAft>
              <a:defRPr sz="1800"/>
            </a:pPr>
            <a:r>
              <a:t>6. Implementation Frameworks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Design multi-agent systems for complex problems</a:t>
            </a:r>
          </a:p>
          <a:p>
            <a:pPr>
              <a:spcAft>
                <a:spcPts val="1000"/>
              </a:spcAft>
              <a:defRPr sz="1800"/>
            </a:pPr>
            <a:r>
              <a:t>✓ Implement communication protocols between agents</a:t>
            </a:r>
          </a:p>
          <a:p>
            <a:pPr>
              <a:spcAft>
                <a:spcPts val="1000"/>
              </a:spcAft>
              <a:defRPr sz="1800"/>
            </a:pPr>
            <a:r>
              <a:t>✓ Apply coordination strategies</a:t>
            </a:r>
          </a:p>
          <a:p>
            <a:pPr>
              <a:spcAft>
                <a:spcPts val="1000"/>
              </a:spcAft>
              <a:defRPr sz="1800"/>
            </a:pPr>
            <a:r>
              <a:t>✓ Evaluate when to use multiple vs single agents</a:t>
            </a:r>
          </a:p>
          <a:p>
            <a:pPr>
              <a:spcAft>
                <a:spcPts val="1000"/>
              </a:spcAft>
              <a:defRPr sz="1800"/>
            </a:pPr>
            <a:r>
              <a:t>✓ Build multi-agent applications with frameworks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Multi-Agent Systems Defined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Multiple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Some problems are too complex for one agent: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Examples:</a:t>
            </a:r>
          </a:p>
          <a:p>
            <a:pPr lvl="1">
              <a:spcAft>
                <a:spcPts val="1000"/>
              </a:spcAft>
              <a:defRPr sz="1800"/>
            </a:pPr>
            <a:r>
              <a:t>• Customer support (triage → research → respond)</a:t>
            </a:r>
          </a:p>
          <a:p>
            <a:pPr lvl="1">
              <a:spcAft>
                <a:spcPts val="1000"/>
              </a:spcAft>
              <a:defRPr sz="1800"/>
            </a:pPr>
            <a:r>
              <a:t>• Software development (plan → code → test → review)</a:t>
            </a:r>
          </a:p>
          <a:p>
            <a:pPr lvl="1">
              <a:spcAft>
                <a:spcPts val="1000"/>
              </a:spcAft>
              <a:defRPr sz="1800"/>
            </a:pPr>
            <a:r>
              <a:t>• Supply chain (forecast → plan → execute → monitor)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Solution: Specialized agents that collaborate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Each agent:</a:t>
            </a:r>
          </a:p>
          <a:p>
            <a:pPr lvl="1">
              <a:spcAft>
                <a:spcPts val="1000"/>
              </a:spcAft>
              <a:defRPr sz="1800"/>
            </a:pPr>
            <a:r>
              <a:t>• Has specific expertise</a:t>
            </a:r>
          </a:p>
          <a:p>
            <a:pPr lvl="1">
              <a:spcAft>
                <a:spcPts val="1000"/>
              </a:spcAft>
              <a:defRPr sz="1800"/>
            </a:pPr>
            <a:r>
              <a:t>• Operates semi-autonomously</a:t>
            </a:r>
          </a:p>
          <a:p>
            <a:pPr lvl="1">
              <a:spcAft>
                <a:spcPts val="1000"/>
              </a:spcAft>
              <a:defRPr sz="1800"/>
            </a:pPr>
            <a:r>
              <a:t>• Communicates with other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MAS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Common Patterns: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Sequential:</a:t>
            </a:r>
          </a:p>
          <a:p>
            <a:pPr lvl="1">
              <a:spcAft>
                <a:spcPts val="1000"/>
              </a:spcAft>
              <a:defRPr sz="1800"/>
            </a:pPr>
            <a:r>
              <a:t>Agent A → Agent B → Agent C → Done</a:t>
            </a:r>
          </a:p>
          <a:p>
            <a:pPr lvl="1">
              <a:spcAft>
                <a:spcPts val="1000"/>
              </a:spcAft>
              <a:defRPr sz="1800"/>
            </a:pPr>
            <a:r>
              <a:t>(Assembly line pattern)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Hierarchical:</a:t>
            </a:r>
          </a:p>
          <a:p>
            <a:pPr lvl="1">
              <a:spcAft>
                <a:spcPts val="1000"/>
              </a:spcAft>
              <a:defRPr sz="1800"/>
            </a:pPr>
            <a:r>
              <a:t>Manager agent coordinates worker agents</a:t>
            </a:r>
          </a:p>
          <a:p>
            <a:pPr lvl="1">
              <a:spcAft>
                <a:spcPts val="1000"/>
              </a:spcAft>
              <a:defRPr sz="1800"/>
            </a:pPr>
            <a:r>
              <a:t>(Organization chart pattern)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Decentralized:</a:t>
            </a:r>
          </a:p>
          <a:p>
            <a:pPr lvl="1">
              <a:spcAft>
                <a:spcPts val="1000"/>
              </a:spcAft>
              <a:defRPr sz="1800"/>
            </a:pPr>
            <a:r>
              <a:t>Agents negotiate and collaborate peer-to-peer</a:t>
            </a:r>
          </a:p>
          <a:p>
            <a:pPr lvl="1">
              <a:spcAft>
                <a:spcPts val="1000"/>
              </a:spcAft>
              <a:defRPr sz="1800"/>
            </a:pPr>
            <a:r>
              <a:t>(Market pattern)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Case Study: Microsoft AutoGen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Framework for building multi-agent applications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Example: Code Review System</a:t>
            </a:r>
          </a:p>
          <a:p>
            <a:pPr lvl="1">
              <a:spcAft>
                <a:spcPts val="1000"/>
              </a:spcAft>
              <a:defRPr sz="1800"/>
            </a:pPr>
            <a:r>
              <a:t>• Coder Agent: Writes code</a:t>
            </a:r>
          </a:p>
          <a:p>
            <a:pPr lvl="1">
              <a:spcAft>
                <a:spcPts val="1000"/>
              </a:spcAft>
              <a:defRPr sz="1800"/>
            </a:pPr>
            <a:r>
              <a:t>• Reviewer Agent: Reviews code quality</a:t>
            </a:r>
          </a:p>
          <a:p>
            <a:pPr lvl="1">
              <a:spcAft>
                <a:spcPts val="1000"/>
              </a:spcAft>
              <a:defRPr sz="1800"/>
            </a:pPr>
            <a:r>
              <a:t>• Tester Agent: Runs tests</a:t>
            </a:r>
          </a:p>
          <a:p>
            <a:pPr lvl="1">
              <a:spcAft>
                <a:spcPts val="1000"/>
              </a:spcAft>
              <a:defRPr sz="1800"/>
            </a:pPr>
            <a:r>
              <a:t>• Manager Agent: Coordinates workflow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Agents collaborate in conversation:</a:t>
            </a:r>
          </a:p>
          <a:p>
            <a:pPr lvl="1">
              <a:spcAft>
                <a:spcPts val="1000"/>
              </a:spcAft>
              <a:defRPr sz="1800"/>
            </a:pPr>
            <a:r>
              <a:t>Manager: 'Write function to calculate tax'</a:t>
            </a:r>
          </a:p>
          <a:p>
            <a:pPr lvl="1">
              <a:spcAft>
                <a:spcPts val="1000"/>
              </a:spcAft>
              <a:defRPr sz="1800"/>
            </a:pPr>
            <a:r>
              <a:t>Coder: [writes code]</a:t>
            </a:r>
          </a:p>
          <a:p>
            <a:pPr lvl="1">
              <a:spcAft>
                <a:spcPts val="1000"/>
              </a:spcAft>
              <a:defRPr sz="1800"/>
            </a:pPr>
            <a:r>
              <a:t>Reviewer: 'Missing edge case for negative numbers'</a:t>
            </a:r>
          </a:p>
          <a:p>
            <a:pPr lvl="1">
              <a:spcAft>
                <a:spcPts val="1000"/>
              </a:spcAft>
              <a:defRPr sz="1800"/>
            </a:pPr>
            <a:r>
              <a:t>Coder: [fixes code]</a:t>
            </a:r>
          </a:p>
          <a:p>
            <a:pPr lvl="1">
              <a:spcAft>
                <a:spcPts val="1000"/>
              </a:spcAft>
              <a:defRPr sz="1800"/>
            </a:pPr>
            <a:r>
              <a:t>Tester: 'All tests pass'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Multi-agent systems decompose complex problems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Agents specialize by role/expertise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Communication protocols enable coordination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Choose architecture based on problem structure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Frameworks like AutoGen simplify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