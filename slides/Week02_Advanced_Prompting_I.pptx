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Week 2: Advanced Prompting 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444444"/>
                </a:solidFill>
              </a:defRPr>
            </a:pPr>
            <a:r>
              <a:t>MBA 590 - Advanced AI Strategy</a:t>
            </a:r>
          </a:p>
          <a:p>
            <a:r>
              <a:t>Few-Shot, Chain-of-Thought &amp; Self-Ask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Today's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Few-Shot Learning</a:t>
            </a:r>
          </a:p>
          <a:p>
            <a:pPr>
              <a:spcAft>
                <a:spcPts val="1000"/>
              </a:spcAft>
              <a:defRPr sz="1800"/>
            </a:pPr>
            <a:r>
              <a:t>2. Chain-of-Thought (CoT) Prompting</a:t>
            </a:r>
          </a:p>
          <a:p>
            <a:pPr>
              <a:spcAft>
                <a:spcPts val="1000"/>
              </a:spcAft>
              <a:defRPr sz="1800"/>
            </a:pPr>
            <a:r>
              <a:t>3. Self-Ask Technique</a:t>
            </a:r>
          </a:p>
          <a:p>
            <a:pPr>
              <a:spcAft>
                <a:spcPts val="1000"/>
              </a:spcAft>
              <a:defRPr sz="1800"/>
            </a:pPr>
            <a:r>
              <a:t>4. Combining Techniques</a:t>
            </a:r>
          </a:p>
          <a:p>
            <a:pPr>
              <a:spcAft>
                <a:spcPts val="1000"/>
              </a:spcAft>
              <a:defRPr sz="1800"/>
            </a:pPr>
            <a:r>
              <a:t>5. When to Use Each Approach</a:t>
            </a:r>
          </a:p>
          <a:p>
            <a:pPr>
              <a:spcAft>
                <a:spcPts val="1000"/>
              </a:spcAft>
              <a:defRPr sz="1800"/>
            </a:pPr>
            <a:r>
              <a:t>6. Business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By the end of this session, you will be able to: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✓ Implement few-shot learning for improved context</a:t>
            </a:r>
          </a:p>
          <a:p>
            <a:pPr>
              <a:spcAft>
                <a:spcPts val="1000"/>
              </a:spcAft>
              <a:defRPr sz="1800"/>
            </a:pPr>
            <a:r>
              <a:t>✓ Apply Chain-of-Thought prompting for complex reasoning</a:t>
            </a:r>
          </a:p>
          <a:p>
            <a:pPr>
              <a:spcAft>
                <a:spcPts val="1000"/>
              </a:spcAft>
              <a:defRPr sz="1800"/>
            </a:pPr>
            <a:r>
              <a:t>✓ Use Self-Ask for problem decomposition</a:t>
            </a:r>
          </a:p>
          <a:p>
            <a:pPr>
              <a:spcAft>
                <a:spcPts val="1000"/>
              </a:spcAft>
              <a:defRPr sz="1800"/>
            </a:pPr>
            <a:r>
              <a:t>✓ Combine techniques for optimal results</a:t>
            </a:r>
          </a:p>
          <a:p>
            <a:pPr>
              <a:spcAft>
                <a:spcPts val="1000"/>
              </a:spcAft>
              <a:defRPr sz="1800"/>
            </a:pPr>
            <a:r>
              <a:t>✓ Choose the right technique for specific business problems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Few-Shot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Few-Shot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Definition: Provide examples to guide AI behavior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Structure:</a:t>
            </a:r>
          </a:p>
          <a:p>
            <a:pPr lvl="1">
              <a:spcAft>
                <a:spcPts val="1000"/>
              </a:spcAft>
              <a:defRPr sz="1800"/>
            </a:pPr>
            <a:r>
              <a:t>Example 1: [Input] → [Desired Output]</a:t>
            </a:r>
          </a:p>
          <a:p>
            <a:pPr lvl="1">
              <a:spcAft>
                <a:spcPts val="1000"/>
              </a:spcAft>
              <a:defRPr sz="1800"/>
            </a:pPr>
            <a:r>
              <a:t>Example 2: [Input] → [Desired Output]</a:t>
            </a:r>
          </a:p>
          <a:p>
            <a:pPr lvl="1">
              <a:spcAft>
                <a:spcPts val="1000"/>
              </a:spcAft>
              <a:defRPr sz="1800"/>
            </a:pPr>
            <a:r>
              <a:t>Example 3: [Input] → [Desired Output]</a:t>
            </a:r>
          </a:p>
          <a:p>
            <a:pPr lvl="1">
              <a:spcAft>
                <a:spcPts val="1000"/>
              </a:spcAft>
              <a:defRPr sz="1800"/>
            </a:pPr>
            <a:r>
              <a:t>Your Query: [Your Input]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Number of examples:</a:t>
            </a:r>
          </a:p>
          <a:p>
            <a:pPr lvl="1">
              <a:spcAft>
                <a:spcPts val="1000"/>
              </a:spcAft>
              <a:defRPr sz="1800"/>
            </a:pPr>
            <a:r>
              <a:t>• 1 example = One-shot</a:t>
            </a:r>
          </a:p>
          <a:p>
            <a:pPr lvl="1">
              <a:spcAft>
                <a:spcPts val="1000"/>
              </a:spcAft>
              <a:defRPr sz="1800"/>
            </a:pPr>
            <a:r>
              <a:t>• 2-5 examples = Few-shot</a:t>
            </a:r>
          </a:p>
          <a:p>
            <a:pPr lvl="1">
              <a:spcAft>
                <a:spcPts val="1000"/>
              </a:spcAft>
              <a:defRPr sz="1800"/>
            </a:pPr>
            <a:r>
              <a:t>• 5+ examples = Many-shot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When to Use Few-Shot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Best For:</a:t>
            </a:r>
          </a:p>
          <a:p>
            <a:pPr lvl="1">
              <a:spcAft>
                <a:spcPts val="1000"/>
              </a:spcAft>
              <a:defRPr sz="1800"/>
            </a:pPr>
            <a:r>
              <a:t>✓ Establishing specific format or style</a:t>
            </a:r>
          </a:p>
          <a:p>
            <a:pPr lvl="1">
              <a:spcAft>
                <a:spcPts val="1000"/>
              </a:spcAft>
              <a:defRPr sz="1800"/>
            </a:pPr>
            <a:r>
              <a:t>✓ Teaching new classification categories</a:t>
            </a:r>
          </a:p>
          <a:p>
            <a:pPr lvl="1">
              <a:spcAft>
                <a:spcPts val="1000"/>
              </a:spcAft>
              <a:defRPr sz="1800"/>
            </a:pPr>
            <a:r>
              <a:t>✓ Demonstrating desired output structure</a:t>
            </a:r>
          </a:p>
          <a:p>
            <a:pPr lvl="1">
              <a:spcAft>
                <a:spcPts val="1000"/>
              </a:spcAft>
              <a:defRPr sz="1800"/>
            </a:pPr>
            <a:r>
              <a:t>✓ Showing edge cases and how to handle them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Cost-Benefit:</a:t>
            </a:r>
          </a:p>
          <a:p>
            <a:pPr lvl="1">
              <a:spcAft>
                <a:spcPts val="1000"/>
              </a:spcAft>
              <a:defRPr sz="1800"/>
            </a:pPr>
            <a:r>
              <a:t>Cost: Higher tokens (examples take space)</a:t>
            </a:r>
          </a:p>
          <a:p>
            <a:pPr lvl="1">
              <a:spcAft>
                <a:spcPts val="1000"/>
              </a:spcAft>
              <a:defRPr sz="1800"/>
            </a:pPr>
            <a:r>
              <a:t>Benefit: 40-70% accuracy improvement</a:t>
            </a:r>
          </a:p>
          <a:p>
            <a:pPr lvl="1">
              <a:spcAft>
                <a:spcPts val="1000"/>
              </a:spcAft>
              <a:defRPr sz="1800"/>
            </a:pPr>
            <a:r>
              <a:t>ROI: Worth it for consistency in production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Chain-of-Thought (CoT)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Chain-of-Thought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Definition: Ask AI to show its reasoning step-by-step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Magic Phrase: 'Let's think step by step'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Why It Works:</a:t>
            </a:r>
          </a:p>
          <a:p>
            <a:pPr lvl="1">
              <a:spcAft>
                <a:spcPts val="1000"/>
              </a:spcAft>
              <a:defRPr sz="1800"/>
            </a:pPr>
            <a:r>
              <a:t>• Forces systematic reasoning</a:t>
            </a:r>
          </a:p>
          <a:p>
            <a:pPr lvl="1">
              <a:spcAft>
                <a:spcPts val="1000"/>
              </a:spcAft>
              <a:defRPr sz="1800"/>
            </a:pPr>
            <a:r>
              <a:t>• Reduces logical errors</a:t>
            </a:r>
          </a:p>
          <a:p>
            <a:pPr lvl="1">
              <a:spcAft>
                <a:spcPts val="1000"/>
              </a:spcAft>
              <a:defRPr sz="1800"/>
            </a:pPr>
            <a:r>
              <a:t>• Makes mistakes visible and debuggable</a:t>
            </a:r>
          </a:p>
          <a:p>
            <a:pPr lvl="1">
              <a:spcAft>
                <a:spcPts val="1000"/>
              </a:spcAft>
              <a:defRPr sz="1800"/>
            </a:pPr>
            <a:r>
              <a:t>• Improves accuracy on complex problems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📚 Research: Wei et al., 2022 (Google)</a:t>
            </a:r>
          </a:p>
          <a:p>
            <a:pPr lvl="1">
              <a:spcAft>
                <a:spcPts val="1000"/>
              </a:spcAft>
              <a:defRPr sz="1800"/>
            </a:pPr>
            <a:r>
              <a:t>Showed 50%+ improvement on math/reasoning tasks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Without CoT:</a:t>
            </a:r>
          </a:p>
          <a:p>
            <a:pPr lvl="1">
              <a:spcAft>
                <a:spcPts val="1000"/>
              </a:spcAft>
              <a:defRPr sz="1800"/>
            </a:pPr>
            <a:r>
              <a:t>'What is 15% of $450?' → '$67.50'</a:t>
            </a:r>
          </a:p>
          <a:p>
            <a:pPr lvl="1">
              <a:spcAft>
                <a:spcPts val="1000"/>
              </a:spcAft>
              <a:defRPr sz="1800"/>
            </a:pPr>
            <a:r>
              <a:t>(Wrong, but no way to debug)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With CoT:</a:t>
            </a:r>
          </a:p>
          <a:p>
            <a:pPr lvl="1">
              <a:spcAft>
                <a:spcPts val="1000"/>
              </a:spcAft>
              <a:defRPr sz="1800"/>
            </a:pPr>
            <a:r>
              <a:t>'What is 15% of $450? Let's think step by step.'</a:t>
            </a:r>
          </a:p>
          <a:p>
            <a:pPr lvl="1">
              <a:spcAft>
                <a:spcPts val="1000"/>
              </a:spcAft>
              <a:defRPr sz="1800"/>
            </a:pPr>
            <a:r>
              <a:t>→ 'Step 1: Convert 15% to decimal: 0.15</a:t>
            </a:r>
          </a:p>
          <a:p>
            <a:pPr lvl="1">
              <a:spcAft>
                <a:spcPts val="1000"/>
              </a:spcAft>
              <a:defRPr sz="1800"/>
            </a:pPr>
            <a:r>
              <a:t>   Step 2: Multiply $450 × 0.15 = $67.50</a:t>
            </a:r>
          </a:p>
          <a:p>
            <a:pPr lvl="1">
              <a:spcAft>
                <a:spcPts val="1000"/>
              </a:spcAft>
              <a:defRPr sz="1800"/>
            </a:pPr>
            <a:r>
              <a:t>   Answer: $67.50'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Benefit: Can verify each step, catch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Self-Ask Technique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Self-Ask for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Definition: AI breaks problem into sub-questions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Template:</a:t>
            </a:r>
          </a:p>
          <a:p>
            <a:pPr lvl="1">
              <a:spcAft>
                <a:spcPts val="1000"/>
              </a:spcAft>
              <a:defRPr sz="1800"/>
            </a:pPr>
            <a:r>
              <a:t>'To answer [main question], I need to first answer:</a:t>
            </a:r>
          </a:p>
          <a:p>
            <a:pPr lvl="1">
              <a:spcAft>
                <a:spcPts val="1000"/>
              </a:spcAft>
              <a:defRPr sz="1800"/>
            </a:pPr>
            <a:r>
              <a:t>1. [Sub-question 1]</a:t>
            </a:r>
          </a:p>
          <a:p>
            <a:pPr lvl="1">
              <a:spcAft>
                <a:spcPts val="1000"/>
              </a:spcAft>
              <a:defRPr sz="1800"/>
            </a:pPr>
            <a:r>
              <a:t>2. [Sub-question 2]</a:t>
            </a:r>
          </a:p>
          <a:p>
            <a:pPr lvl="1">
              <a:spcAft>
                <a:spcPts val="1000"/>
              </a:spcAft>
              <a:defRPr sz="1800"/>
            </a:pPr>
            <a:r>
              <a:t>3. [Sub-question 3]</a:t>
            </a:r>
          </a:p>
          <a:p>
            <a:pPr lvl="1">
              <a:spcAft>
                <a:spcPts val="1000"/>
              </a:spcAft>
              <a:defRPr sz="1800"/>
            </a:pPr>
            <a:r>
              <a:t>Then combine answers for final result'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Best For:</a:t>
            </a:r>
          </a:p>
          <a:p>
            <a:pPr lvl="1">
              <a:spcAft>
                <a:spcPts val="1000"/>
              </a:spcAft>
              <a:defRPr sz="1800"/>
            </a:pPr>
            <a:r>
              <a:t>• Multi-step research questions</a:t>
            </a:r>
          </a:p>
          <a:p>
            <a:pPr lvl="1">
              <a:spcAft>
                <a:spcPts val="1000"/>
              </a:spcAft>
              <a:defRPr sz="1800"/>
            </a:pPr>
            <a:r>
              <a:t>• Complex analysis requiring multiple data sources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Combining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Most Powerful: Use ALL THREE together!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1. Provide few-shot examples (show format)</a:t>
            </a:r>
          </a:p>
          <a:p>
            <a:pPr>
              <a:spcAft>
                <a:spcPts val="1000"/>
              </a:spcAft>
              <a:defRPr sz="1800"/>
            </a:pPr>
            <a:r>
              <a:t>2. Ask for step-by-step reasoning (CoT)</a:t>
            </a:r>
          </a:p>
          <a:p>
            <a:pPr>
              <a:spcAft>
                <a:spcPts val="1000"/>
              </a:spcAft>
              <a:defRPr sz="1800"/>
            </a:pPr>
            <a:r>
              <a:t>3. Let AI decompose complex parts (Self-Ask)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Example:</a:t>
            </a:r>
          </a:p>
          <a:p>
            <a:pPr lvl="1">
              <a:spcAft>
                <a:spcPts val="1000"/>
              </a:spcAft>
              <a:defRPr sz="1800"/>
            </a:pPr>
            <a:r>
              <a:t>'Analyze this customer feedback [3 examples shown].</a:t>
            </a:r>
          </a:p>
          <a:p>
            <a:pPr lvl="1">
              <a:spcAft>
                <a:spcPts val="1000"/>
              </a:spcAft>
              <a:defRPr sz="1800"/>
            </a:pPr>
            <a:r>
              <a:t>Break down your analysis step-by-step,</a:t>
            </a:r>
          </a:p>
          <a:p>
            <a:pPr lvl="1">
              <a:spcAft>
                <a:spcPts val="1000"/>
              </a:spcAft>
              <a:defRPr sz="1800"/>
            </a:pPr>
            <a:r>
              <a:t>asking yourself sub-questions as needed.'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Result: Highest accuracy + transparency + consistency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Decision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Which technique for which situation?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Few-Shot:</a:t>
            </a:r>
          </a:p>
          <a:p>
            <a:pPr lvl="1">
              <a:spcAft>
                <a:spcPts val="1000"/>
              </a:spcAft>
              <a:defRPr sz="1800"/>
            </a:pPr>
            <a:r>
              <a:t>→ Need specific format/style consistency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Chain-of-Thought:</a:t>
            </a:r>
          </a:p>
          <a:p>
            <a:pPr lvl="1">
              <a:spcAft>
                <a:spcPts val="1000"/>
              </a:spcAft>
              <a:defRPr sz="1800"/>
            </a:pPr>
            <a:r>
              <a:t>→ Complex reasoning, math, logic problems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Self-Ask:</a:t>
            </a:r>
          </a:p>
          <a:p>
            <a:pPr lvl="1">
              <a:spcAft>
                <a:spcPts val="1000"/>
              </a:spcAft>
              <a:defRPr sz="1800"/>
            </a:pPr>
            <a:r>
              <a:t>→ Multi-part research questions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All Three:</a:t>
            </a:r>
          </a:p>
          <a:p>
            <a:pPr lvl="1">
              <a:spcAft>
                <a:spcPts val="1000"/>
              </a:spcAft>
              <a:defRPr sz="1800"/>
            </a:pPr>
            <a:r>
              <a:t>→ High-stakes business decisions, complex analysis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1. Few-shot learning provides examples to guide AI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Chain-of-Thought shows reasoning, catches errors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Self-Ask decomposes complex problems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4. Combining techniques yields best results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5. Cost scales with complexity but ROI justifies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