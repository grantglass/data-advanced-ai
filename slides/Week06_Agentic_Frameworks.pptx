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6: Introduction to Agentic Frameworks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Concepts and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What Makes a System 'Agentic'?</a:t>
            </a:r>
          </a:p>
          <a:p>
            <a:pPr>
              <a:spcAft>
                <a:spcPts val="1000"/>
              </a:spcAft>
              <a:defRPr sz="1800"/>
            </a:pPr>
            <a:r>
              <a:t>2. Agents vs. Automation vs. Chatbots</a:t>
            </a:r>
          </a:p>
          <a:p>
            <a:pPr>
              <a:spcAft>
                <a:spcPts val="1000"/>
              </a:spcAft>
              <a:defRPr sz="1800"/>
            </a:pPr>
            <a:r>
              <a:t>3. Core Agent Concepts</a:t>
            </a:r>
          </a:p>
          <a:p>
            <a:pPr lvl="1">
              <a:spcAft>
                <a:spcPts val="1000"/>
              </a:spcAft>
              <a:defRPr sz="1800"/>
            </a:pPr>
            <a:r>
              <a:t>Perception, Planning, Reasoning, Action, Memory</a:t>
            </a:r>
          </a:p>
          <a:p>
            <a:pPr>
              <a:spcAft>
                <a:spcPts val="1000"/>
              </a:spcAft>
              <a:defRPr sz="1800"/>
            </a:pPr>
            <a:r>
              <a:t>4. The ReAct Framework</a:t>
            </a:r>
          </a:p>
          <a:p>
            <a:pPr>
              <a:spcAft>
                <a:spcPts val="1000"/>
              </a:spcAft>
              <a:defRPr sz="1800"/>
            </a:pPr>
            <a:r>
              <a:t>5. Agent Architectures Overview</a:t>
            </a:r>
          </a:p>
          <a:p>
            <a:pPr>
              <a:spcAft>
                <a:spcPts val="1000"/>
              </a:spcAft>
              <a:defRPr sz="1800"/>
            </a:pPr>
            <a:r>
              <a:t>6. Real-World Case Studies</a:t>
            </a:r>
          </a:p>
          <a:p>
            <a:pPr>
              <a:spcAft>
                <a:spcPts val="1000"/>
              </a:spcAft>
              <a:defRPr sz="1800"/>
            </a:pPr>
            <a:r>
              <a:t>7. When (Not) to Use Agentic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Define agentic systems and their 6 key characteristics</a:t>
            </a:r>
          </a:p>
          <a:p>
            <a:pPr>
              <a:spcAft>
                <a:spcPts val="1000"/>
              </a:spcAft>
              <a:defRPr sz="1800"/>
            </a:pPr>
            <a:r>
              <a:t>✓ Distinguish agents from automation and chatbots</a:t>
            </a:r>
          </a:p>
          <a:p>
            <a:pPr>
              <a:spcAft>
                <a:spcPts val="1000"/>
              </a:spcAft>
              <a:defRPr sz="1800"/>
            </a:pPr>
            <a:r>
              <a:t>✓ Explain the perception-action loop</a:t>
            </a:r>
          </a:p>
          <a:p>
            <a:pPr>
              <a:spcAft>
                <a:spcPts val="1000"/>
              </a:spcAft>
              <a:defRPr sz="1800"/>
            </a:pPr>
            <a:r>
              <a:t>✓ Describe the ReAct framework and its advantages</a:t>
            </a:r>
          </a:p>
          <a:p>
            <a:pPr>
              <a:spcAft>
                <a:spcPts val="1000"/>
              </a:spcAft>
              <a:defRPr sz="1800"/>
            </a:pPr>
            <a:r>
              <a:t>✓ Identify which agent architecture fits specific problems</a:t>
            </a:r>
          </a:p>
          <a:p>
            <a:pPr>
              <a:spcAft>
                <a:spcPts val="1000"/>
              </a:spcAft>
              <a:defRPr sz="1800"/>
            </a:pPr>
            <a:r>
              <a:t>✓ Evaluate when agentic capabilities add business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What is an Agentic System?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Agentic Systems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An AI system that can: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Perceive its environment and task requirements</a:t>
            </a:r>
          </a:p>
          <a:p>
            <a:pPr>
              <a:spcAft>
                <a:spcPts val="1000"/>
              </a:spcAft>
              <a:defRPr sz="1800"/>
            </a:pPr>
            <a:r>
              <a:t>2. Plan a sequence of actions to achieve goals</a:t>
            </a:r>
          </a:p>
          <a:p>
            <a:pPr>
              <a:spcAft>
                <a:spcPts val="1000"/>
              </a:spcAft>
              <a:defRPr sz="1800"/>
            </a:pPr>
            <a:r>
              <a:t>3. Reason about options and consequences</a:t>
            </a:r>
          </a:p>
          <a:p>
            <a:pPr>
              <a:spcAft>
                <a:spcPts val="1000"/>
              </a:spcAft>
              <a:defRPr sz="1800"/>
            </a:pPr>
            <a:r>
              <a:t>4. Act using available tools and interfaces</a:t>
            </a:r>
          </a:p>
          <a:p>
            <a:pPr>
              <a:spcAft>
                <a:spcPts val="1000"/>
              </a:spcAft>
              <a:defRPr sz="1800"/>
            </a:pPr>
            <a:r>
              <a:t>5. Learn from feedback and adapt behavior</a:t>
            </a:r>
          </a:p>
          <a:p>
            <a:pPr>
              <a:spcAft>
                <a:spcPts val="1000"/>
              </a:spcAft>
              <a:defRPr sz="1800"/>
            </a:pPr>
            <a:r>
              <a:t>6. Operate autonomously with minimal human intervention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Key: 'Agency' = capacity to act independently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6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What distinguishes agentic AI: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Autonomy: Makes decisions independently</a:t>
            </a:r>
          </a:p>
          <a:p>
            <a:pPr>
              <a:spcAft>
                <a:spcPts val="1000"/>
              </a:spcAft>
              <a:defRPr sz="1800"/>
            </a:pPr>
            <a:r>
              <a:t>Goal-Directedness: Works toward specific objectives</a:t>
            </a:r>
          </a:p>
          <a:p>
            <a:pPr>
              <a:spcAft>
                <a:spcPts val="1000"/>
              </a:spcAft>
              <a:defRPr sz="1800"/>
            </a:pPr>
            <a:r>
              <a:t>Reactivity: Responds to environment changes</a:t>
            </a:r>
          </a:p>
          <a:p>
            <a:pPr>
              <a:spcAft>
                <a:spcPts val="1000"/>
              </a:spcAft>
              <a:defRPr sz="1800"/>
            </a:pPr>
            <a:r>
              <a:t>Pro-activeness: Takes initiative</a:t>
            </a:r>
          </a:p>
          <a:p>
            <a:pPr>
              <a:spcAft>
                <a:spcPts val="1000"/>
              </a:spcAft>
              <a:defRPr sz="1800"/>
            </a:pPr>
            <a:r>
              <a:t>Social Ability: Interacts with humans/other agents</a:t>
            </a:r>
          </a:p>
          <a:p>
            <a:pPr>
              <a:spcAft>
                <a:spcPts val="1000"/>
              </a:spcAft>
              <a:defRPr sz="1800"/>
            </a:pPr>
            <a:r>
              <a:t>Learning: Improves performance over time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If you can write it as IF-THEN rules → Not agentic!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Agents vs. Automation vs. Chatbots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Automation:</a:t>
            </a:r>
          </a:p>
          <a:p>
            <a:pPr lvl="1">
              <a:spcAft>
                <a:spcPts val="1000"/>
              </a:spcAft>
              <a:defRPr sz="1800"/>
            </a:pPr>
            <a:r>
              <a:t>• Follows fixed script</a:t>
            </a:r>
          </a:p>
          <a:p>
            <a:pPr lvl="1">
              <a:spcAft>
                <a:spcPts val="1000"/>
              </a:spcAft>
              <a:defRPr sz="1800"/>
            </a:pPr>
            <a:r>
              <a:t>• No planning or reasoning</a:t>
            </a:r>
          </a:p>
          <a:p>
            <a:pPr lvl="1">
              <a:spcAft>
                <a:spcPts val="1000"/>
              </a:spcAft>
              <a:defRPr sz="1800"/>
            </a:pPr>
            <a:r>
              <a:t>• Fails on unexpected input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Chatbot:</a:t>
            </a:r>
          </a:p>
          <a:p>
            <a:pPr lvl="1">
              <a:spcAft>
                <a:spcPts val="1000"/>
              </a:spcAft>
              <a:defRPr sz="1800"/>
            </a:pPr>
            <a:r>
              <a:t>• Matches intents to responses</a:t>
            </a:r>
          </a:p>
          <a:p>
            <a:pPr lvl="1">
              <a:spcAft>
                <a:spcPts val="1000"/>
              </a:spcAft>
              <a:defRPr sz="1800"/>
            </a:pPr>
            <a:r>
              <a:t>• Single-turn interactions</a:t>
            </a:r>
          </a:p>
          <a:p>
            <a:pPr lvl="1">
              <a:spcAft>
                <a:spcPts val="1000"/>
              </a:spcAft>
              <a:defRPr sz="1800"/>
            </a:pPr>
            <a:r>
              <a:t>• Can't handle multi-step tasks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Agent:</a:t>
            </a:r>
          </a:p>
          <a:p>
            <a:pPr lvl="1">
              <a:spcAft>
                <a:spcPts val="1000"/>
              </a:spcAft>
              <a:defRPr sz="1800"/>
            </a:pPr>
            <a:r>
              <a:t>• Plans and adapts dynamically</a:t>
            </a:r>
          </a:p>
          <a:p>
            <a:pPr lvl="1">
              <a:spcAft>
                <a:spcPts val="1000"/>
              </a:spcAft>
              <a:defRPr sz="1800"/>
            </a:pPr>
            <a:r>
              <a:t>• Multi-step reasoning</a:t>
            </a:r>
          </a:p>
          <a:p>
            <a:pPr lvl="1">
              <a:spcAft>
                <a:spcPts val="1000"/>
              </a:spcAft>
              <a:defRPr sz="1800"/>
            </a:pPr>
            <a:r>
              <a:t>• Handles complex, novel situations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When do you need an agent?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✅ Use Agentic AI when:</a:t>
            </a:r>
          </a:p>
          <a:p>
            <a:pPr lvl="1">
              <a:spcAft>
                <a:spcPts val="1000"/>
              </a:spcAft>
              <a:defRPr sz="1800"/>
            </a:pPr>
            <a:r>
              <a:t>• Path to solution isn't predefined</a:t>
            </a:r>
          </a:p>
          <a:p>
            <a:pPr lvl="1">
              <a:spcAft>
                <a:spcPts val="1000"/>
              </a:spcAft>
              <a:defRPr sz="1800"/>
            </a:pPr>
            <a:r>
              <a:t>• Multiple steps required, sequence varies</a:t>
            </a:r>
          </a:p>
          <a:p>
            <a:pPr lvl="1">
              <a:spcAft>
                <a:spcPts val="1000"/>
              </a:spcAft>
              <a:defRPr sz="1800"/>
            </a:pPr>
            <a:r>
              <a:t>• Contextual decision-making needed</a:t>
            </a:r>
          </a:p>
          <a:p>
            <a:pPr lvl="1">
              <a:spcAft>
                <a:spcPts val="1000"/>
              </a:spcAft>
              <a:defRPr sz="1800"/>
            </a:pPr>
            <a:r>
              <a:t>• Task requires synthesis of information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❌ Don't use when:</a:t>
            </a:r>
          </a:p>
          <a:p>
            <a:pPr lvl="1">
              <a:spcAft>
                <a:spcPts val="1000"/>
              </a:spcAft>
              <a:defRPr sz="1800"/>
            </a:pPr>
            <a:r>
              <a:t>• Process is fully defined and unchanging → Automation</a:t>
            </a:r>
          </a:p>
          <a:p>
            <a:pPr lvl="1">
              <a:spcAft>
                <a:spcPts val="1000"/>
              </a:spcAft>
              <a:defRPr sz="1800"/>
            </a:pPr>
            <a:r>
              <a:t>• Single-turn Q&amp;A → Chatbot or RAG</a:t>
            </a:r>
          </a:p>
          <a:p>
            <a:pPr lvl="1">
              <a:spcAft>
                <a:spcPts val="1000"/>
              </a:spcAft>
              <a:defRPr sz="1800"/>
            </a:pPr>
            <a:r>
              <a:t>• Safety requires complete human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Core Agent Concepts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Perception-Action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fundamental cycle of agent behavior: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PERCEIVE: Understand current environment state</a:t>
            </a:r>
          </a:p>
          <a:p>
            <a:pPr>
              <a:spcAft>
                <a:spcPts val="1000"/>
              </a:spcAft>
              <a:defRPr sz="1800"/>
            </a:pPr>
            <a:r>
              <a:t>2. REASON: Think about what to do</a:t>
            </a:r>
          </a:p>
          <a:p>
            <a:pPr>
              <a:spcAft>
                <a:spcPts val="1000"/>
              </a:spcAft>
              <a:defRPr sz="1800"/>
            </a:pPr>
            <a:r>
              <a:t>3. PLAN: Decide on next action</a:t>
            </a:r>
          </a:p>
          <a:p>
            <a:pPr>
              <a:spcAft>
                <a:spcPts val="1000"/>
              </a:spcAft>
              <a:defRPr sz="1800"/>
            </a:pPr>
            <a:r>
              <a:t>4. ACT: Execute the action</a:t>
            </a:r>
          </a:p>
          <a:p>
            <a:pPr>
              <a:spcAft>
                <a:spcPts val="1000"/>
              </a:spcAft>
              <a:defRPr sz="1800"/>
            </a:pPr>
            <a:r>
              <a:t>5. OBSERVE: See what happened</a:t>
            </a:r>
          </a:p>
          <a:p>
            <a:pPr>
              <a:spcAft>
                <a:spcPts val="1000"/>
              </a:spcAft>
              <a:defRPr sz="1800"/>
            </a:pPr>
            <a:r>
              <a:t>6. REPEAT: Loop back to step 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This is how agents handle dynamic, multi-step tasks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How agents remember: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Short-Term (Working Memory):</a:t>
            </a:r>
          </a:p>
          <a:p>
            <a:pPr lvl="1">
              <a:spcAft>
                <a:spcPts val="1000"/>
              </a:spcAft>
              <a:defRPr sz="1800"/>
            </a:pPr>
            <a:r>
              <a:t>• Recent interactions (last 10 messages)</a:t>
            </a:r>
          </a:p>
          <a:p>
            <a:pPr lvl="1">
              <a:spcAft>
                <a:spcPts val="1000"/>
              </a:spcAft>
              <a:defRPr sz="1800"/>
            </a:pPr>
            <a:r>
              <a:t>• Current task context</a:t>
            </a:r>
          </a:p>
          <a:p>
            <a:pPr lvl="1">
              <a:spcAft>
                <a:spcPts val="1000"/>
              </a:spcAft>
              <a:defRPr sz="1800"/>
            </a:pPr>
            <a:r>
              <a:t>• Cost: Higher token usage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Long-Term (Vector Database):</a:t>
            </a:r>
          </a:p>
          <a:p>
            <a:pPr lvl="1">
              <a:spcAft>
                <a:spcPts val="1000"/>
              </a:spcAft>
              <a:defRPr sz="1800"/>
            </a:pPr>
            <a:r>
              <a:t>• Past conversations, learned facts</a:t>
            </a:r>
          </a:p>
          <a:p>
            <a:pPr lvl="1">
              <a:spcAft>
                <a:spcPts val="1000"/>
              </a:spcAft>
              <a:defRPr sz="1800"/>
            </a:pPr>
            <a:r>
              <a:t>• User preferences, historical patterns</a:t>
            </a:r>
          </a:p>
          <a:p>
            <a:pPr lvl="1">
              <a:spcAft>
                <a:spcPts val="1000"/>
              </a:spcAft>
              <a:defRPr sz="1800"/>
            </a:pPr>
            <a:r>
              <a:t>• Cost: Storage + retrieval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Trade-off: More memory = better context but higher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ReAct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ReAct: Reasoning + Acting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Revolutionary approach that interleaves: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Think → Act → Observe → Think → Act → Observe...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vs. Traditional: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Query → Get Result → Answer (no adaptation)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Difference: Reasoning is EXPLICIT and VISIBLE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📚 Source: Yao et al., 2022 (ICLR 2023)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ReAct Performance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Results from research paper: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HotpotQA (multi-hop reasoning):</a:t>
            </a:r>
          </a:p>
          <a:p>
            <a:pPr lvl="1">
              <a:spcAft>
                <a:spcPts val="1000"/>
              </a:spcAft>
              <a:defRPr sz="1800"/>
            </a:pPr>
            <a:r>
              <a:t>Traditional: 28% → ReAct: 47% (+68%)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FEVER (fact verification):</a:t>
            </a:r>
          </a:p>
          <a:p>
            <a:pPr lvl="1">
              <a:spcAft>
                <a:spcPts val="1000"/>
              </a:spcAft>
              <a:defRPr sz="1800"/>
            </a:pPr>
            <a:r>
              <a:t>Traditional: 72% → ReAct: 84% (+17%)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WebShop (web navigation):</a:t>
            </a:r>
          </a:p>
          <a:p>
            <a:pPr lvl="1">
              <a:spcAft>
                <a:spcPts val="1000"/>
              </a:spcAft>
              <a:defRPr sz="1800"/>
            </a:pPr>
            <a:r>
              <a:t>Traditional: 45% → ReAct: 78% (+73%)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Why? Can adapt based on intermediate results!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ReAct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Task: 'Analyze Q4 2024 sales for Northeast region'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Thought: I need to first query the database</a:t>
            </a:r>
          </a:p>
          <a:p>
            <a:pPr>
              <a:spcAft>
                <a:spcPts val="1000"/>
              </a:spcAft>
              <a:defRPr sz="1800"/>
            </a:pPr>
            <a:r>
              <a:t>Action: query_database('Q4 2024 Northeast sales')</a:t>
            </a:r>
          </a:p>
          <a:p>
            <a:pPr>
              <a:spcAft>
                <a:spcPts val="1000"/>
              </a:spcAft>
              <a:defRPr sz="1800"/>
            </a:pPr>
            <a:r>
              <a:t>Observation: Got data - $5.2M revenue, 1250 transactions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Thought: I have raw data, now need to analyze it</a:t>
            </a:r>
          </a:p>
          <a:p>
            <a:pPr>
              <a:spcAft>
                <a:spcPts val="1000"/>
              </a:spcAft>
              <a:defRPr sz="1800"/>
            </a:pPr>
            <a:r>
              <a:t>Action: analyze_by_product(sales_data)</a:t>
            </a:r>
          </a:p>
          <a:p>
            <a:pPr>
              <a:spcAft>
                <a:spcPts val="1000"/>
              </a:spcAft>
              <a:defRPr sz="1800"/>
            </a:pPr>
            <a:r>
              <a:t>Observation: Product A: 35%, Product B: 28%, Product C: 37%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Thought: Sufficient data, ready to answer</a:t>
            </a:r>
          </a:p>
          <a:p>
            <a:pPr>
              <a:spcAft>
                <a:spcPts val="1000"/>
              </a:spcAft>
              <a:defRPr sz="1800"/>
            </a:pPr>
            <a:r>
              <a:t>Action: FINISH with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Agent Architectures Overview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7 Levels of Agent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Simple Reflex: IF-THEN rules</a:t>
            </a:r>
          </a:p>
          <a:p>
            <a:pPr>
              <a:spcAft>
                <a:spcPts val="1000"/>
              </a:spcAft>
              <a:defRPr sz="1800"/>
            </a:pPr>
            <a:r>
              <a:t>2. Model-Based: Track internal state</a:t>
            </a:r>
          </a:p>
          <a:p>
            <a:pPr>
              <a:spcAft>
                <a:spcPts val="1000"/>
              </a:spcAft>
              <a:defRPr sz="1800"/>
            </a:pPr>
            <a:r>
              <a:t>3. Goal-Based: Plan toward goals</a:t>
            </a:r>
          </a:p>
          <a:p>
            <a:pPr>
              <a:spcAft>
                <a:spcPts val="1000"/>
              </a:spcAft>
              <a:defRPr sz="1800"/>
            </a:pPr>
            <a:r>
              <a:t>4. Utility-Based: Optimize utility function</a:t>
            </a:r>
          </a:p>
          <a:p>
            <a:pPr>
              <a:spcAft>
                <a:spcPts val="1000"/>
              </a:spcAft>
              <a:defRPr sz="1800"/>
            </a:pPr>
            <a:r>
              <a:t>5. Learning: Improve from experience</a:t>
            </a:r>
          </a:p>
          <a:p>
            <a:pPr>
              <a:spcAft>
                <a:spcPts val="1000"/>
              </a:spcAft>
              <a:defRPr sz="1800"/>
            </a:pPr>
            <a:r>
              <a:t>6. ReAct: Interleaved reasoning &amp; acting</a:t>
            </a:r>
          </a:p>
          <a:p>
            <a:pPr>
              <a:spcAft>
                <a:spcPts val="1000"/>
              </a:spcAft>
              <a:defRPr sz="1800"/>
            </a:pPr>
            <a:r>
              <a:t>7. Multi-Agent: Coordinated specialized agents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Golden Rule: Use simplest architecture that works!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Architecture Selection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Match architecture to need: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Simple Reflex → Alert on threshold breach</a:t>
            </a:r>
          </a:p>
          <a:p>
            <a:pPr>
              <a:spcAft>
                <a:spcPts val="1000"/>
              </a:spcAft>
              <a:defRPr sz="1800"/>
            </a:pPr>
            <a:r>
              <a:t>Model-Based → Inventory management</a:t>
            </a:r>
          </a:p>
          <a:p>
            <a:pPr>
              <a:spcAft>
                <a:spcPts val="1000"/>
              </a:spcAft>
              <a:defRPr sz="1800"/>
            </a:pPr>
            <a:r>
              <a:t>Goal-Based → Project planning</a:t>
            </a:r>
          </a:p>
          <a:p>
            <a:pPr>
              <a:spcAft>
                <a:spcPts val="1000"/>
              </a:spcAft>
              <a:defRPr sz="1800"/>
            </a:pPr>
            <a:r>
              <a:t>Utility-Based → Resource allocation</a:t>
            </a:r>
          </a:p>
          <a:p>
            <a:pPr>
              <a:spcAft>
                <a:spcPts val="1000"/>
              </a:spcAft>
              <a:defRPr sz="1800"/>
            </a:pPr>
            <a:r>
              <a:t>Learning → Customer preference learning</a:t>
            </a:r>
          </a:p>
          <a:p>
            <a:pPr>
              <a:spcAft>
                <a:spcPts val="1000"/>
              </a:spcAft>
              <a:defRPr sz="1800"/>
            </a:pPr>
            <a:r>
              <a:t>ReAct → Research &amp; analysis tasks</a:t>
            </a:r>
          </a:p>
          <a:p>
            <a:pPr>
              <a:spcAft>
                <a:spcPts val="1000"/>
              </a:spcAft>
              <a:defRPr sz="1800"/>
            </a:pPr>
            <a:r>
              <a:t>Multi-Agent → Cross-functional workflows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Over-engineering wastes money, under-engineering fails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Real-World Case Studies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Klarna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Company: Klarna (Fintech, 150M users)</a:t>
            </a:r>
          </a:p>
          <a:p>
            <a:pPr>
              <a:spcAft>
                <a:spcPts val="1000"/>
              </a:spcAft>
              <a:defRPr sz="1800"/>
            </a:pPr>
            <a:r>
              <a:t>Challenge: Handle millions of support inquiries</a:t>
            </a:r>
          </a:p>
          <a:p>
            <a:pPr>
              <a:spcAft>
                <a:spcPts val="1000"/>
              </a:spcAft>
              <a:defRPr sz="1800"/>
            </a:pPr>
            <a:r>
              <a:t>Solution: Agentic AI assistant (Feb 2024)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Agentic Capabilities:</a:t>
            </a:r>
          </a:p>
          <a:p>
            <a:pPr lvl="1">
              <a:spcAft>
                <a:spcPts val="1000"/>
              </a:spcAft>
              <a:defRPr sz="1800"/>
            </a:pPr>
            <a:r>
              <a:t>• Understands intent, identifies account context</a:t>
            </a:r>
          </a:p>
          <a:p>
            <a:pPr lvl="1">
              <a:spcAft>
                <a:spcPts val="1000"/>
              </a:spcAft>
              <a:defRPr sz="1800"/>
            </a:pPr>
            <a:r>
              <a:t>• Plans multi-step resolution path</a:t>
            </a:r>
          </a:p>
          <a:p>
            <a:pPr lvl="1">
              <a:spcAft>
                <a:spcPts val="1000"/>
              </a:spcAft>
              <a:defRPr sz="1800"/>
            </a:pPr>
            <a:r>
              <a:t>• Uses tools (transaction DB, refund system, KB)</a:t>
            </a:r>
          </a:p>
          <a:p>
            <a:pPr lvl="1">
              <a:spcAft>
                <a:spcPts val="1000"/>
              </a:spcAft>
              <a:defRPr sz="1800"/>
            </a:pPr>
            <a:r>
              <a:t>• Learns from satisfaction scores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Results:</a:t>
            </a:r>
          </a:p>
          <a:p>
            <a:pPr lvl="1">
              <a:spcAft>
                <a:spcPts val="1000"/>
              </a:spcAft>
              <a:defRPr sz="1800"/>
            </a:pPr>
            <a:r>
              <a:t>• 2.3M conversations first month (= 700 FTE agents)</a:t>
            </a:r>
          </a:p>
          <a:p>
            <a:pPr lvl="1">
              <a:spcAft>
                <a:spcPts val="1000"/>
              </a:spcAft>
              <a:defRPr sz="1800"/>
            </a:pPr>
            <a:r>
              <a:t>• Resolution time: 11 min → 2 min</a:t>
            </a:r>
          </a:p>
          <a:p>
            <a:pPr lvl="1">
              <a:spcAft>
                <a:spcPts val="1000"/>
              </a:spcAft>
              <a:defRPr sz="1800"/>
            </a:pPr>
            <a:r>
              <a:t>• $40M annual savings projected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Morgan Stanley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Company: Morgan Stanley (Financial Services)</a:t>
            </a:r>
          </a:p>
          <a:p>
            <a:pPr>
              <a:spcAft>
                <a:spcPts val="1000"/>
              </a:spcAft>
              <a:defRPr sz="1800"/>
            </a:pPr>
            <a:r>
              <a:t>Challenge: 16,000 advisors search 100K+ documents</a:t>
            </a:r>
          </a:p>
          <a:p>
            <a:pPr>
              <a:spcAft>
                <a:spcPts val="1000"/>
              </a:spcAft>
              <a:defRPr sz="1800"/>
            </a:pPr>
            <a:r>
              <a:t>Solution: GPT-4 agentic system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Agentic Workflow:</a:t>
            </a:r>
          </a:p>
          <a:p>
            <a:pPr lvl="1">
              <a:spcAft>
                <a:spcPts val="1000"/>
              </a:spcAft>
              <a:defRPr sz="1800"/>
            </a:pPr>
            <a:r>
              <a:t>1. Understand advisor's client context</a:t>
            </a:r>
          </a:p>
          <a:p>
            <a:pPr lvl="1">
              <a:spcAft>
                <a:spcPts val="1000"/>
              </a:spcAft>
              <a:defRPr sz="1800"/>
            </a:pPr>
            <a:r>
              <a:t>2. Break query into sub-questions</a:t>
            </a:r>
          </a:p>
          <a:p>
            <a:pPr lvl="1">
              <a:spcAft>
                <a:spcPts val="1000"/>
              </a:spcAft>
              <a:defRPr sz="1800"/>
            </a:pPr>
            <a:r>
              <a:t>3. Use multiple retrieval strategies</a:t>
            </a:r>
          </a:p>
          <a:p>
            <a:pPr lvl="1">
              <a:spcAft>
                <a:spcPts val="1000"/>
              </a:spcAft>
              <a:defRPr sz="1800"/>
            </a:pPr>
            <a:r>
              <a:t>4. Synthesize findings, identify gaps</a:t>
            </a:r>
          </a:p>
          <a:p>
            <a:pPr lvl="1">
              <a:spcAft>
                <a:spcPts val="1000"/>
              </a:spcAft>
              <a:defRPr sz="1800"/>
            </a:pPr>
            <a:r>
              <a:t>5. Generate actionable insights with citations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Results:</a:t>
            </a:r>
          </a:p>
          <a:p>
            <a:pPr lvl="1">
              <a:spcAft>
                <a:spcPts val="1000"/>
              </a:spcAft>
              <a:defRPr sz="1800"/>
            </a:pPr>
            <a:r>
              <a:t>• 16,000 advisors deployed</a:t>
            </a:r>
          </a:p>
          <a:p>
            <a:pPr lvl="1">
              <a:spcAft>
                <a:spcPts val="1000"/>
              </a:spcAft>
              <a:defRPr sz="1800"/>
            </a:pPr>
            <a:r>
              <a:t>• 10-15% more time with clients</a:t>
            </a:r>
          </a:p>
          <a:p>
            <a:pPr lvl="1">
              <a:spcAft>
                <a:spcPts val="1000"/>
              </a:spcAft>
              <a:defRPr sz="1800"/>
            </a:pPr>
            <a:r>
              <a:t>• Previously buried insights now discoverable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When Agentic Capabilities Add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Best Use Cases: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Complex Customer Inquiry:</a:t>
            </a:r>
          </a:p>
          <a:p>
            <a:pPr lvl="1">
              <a:spcAft>
                <a:spcPts val="1000"/>
              </a:spcAft>
              <a:defRPr sz="1800"/>
            </a:pPr>
            <a:r>
              <a:t>Multi-step problem solving, tool use, adaptation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Market Research:</a:t>
            </a:r>
          </a:p>
          <a:p>
            <a:pPr lvl="1">
              <a:spcAft>
                <a:spcPts val="1000"/>
              </a:spcAft>
              <a:defRPr sz="1800"/>
            </a:pPr>
            <a:r>
              <a:t>Dynamic data gathering, synthesis, reporting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Financial Analysis:</a:t>
            </a:r>
          </a:p>
          <a:p>
            <a:pPr lvl="1">
              <a:spcAft>
                <a:spcPts val="1000"/>
              </a:spcAft>
              <a:defRPr sz="1800"/>
            </a:pPr>
            <a:r>
              <a:t>Multiple data sources, complex calculations, insights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Supply Chain Optimization:</a:t>
            </a:r>
          </a:p>
          <a:p>
            <a:pPr lvl="1">
              <a:spcAft>
                <a:spcPts val="1000"/>
              </a:spcAft>
              <a:defRPr sz="1800"/>
            </a:pPr>
            <a:r>
              <a:t>Real-time monitoring, planning, decision making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ROI Calculation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Costs:</a:t>
            </a:r>
          </a:p>
          <a:p>
            <a:pPr lvl="1">
              <a:spcAft>
                <a:spcPts val="1000"/>
              </a:spcAft>
              <a:defRPr sz="1800"/>
            </a:pPr>
            <a:r>
              <a:t>• Development: $10K-50K (initial agent)</a:t>
            </a:r>
          </a:p>
          <a:p>
            <a:pPr lvl="1">
              <a:spcAft>
                <a:spcPts val="1000"/>
              </a:spcAft>
              <a:defRPr sz="1800"/>
            </a:pPr>
            <a:r>
              <a:t>• Infrastructure: $500-2K/month (LLM API, tools)</a:t>
            </a:r>
          </a:p>
          <a:p>
            <a:pPr lvl="1">
              <a:spcAft>
                <a:spcPts val="1000"/>
              </a:spcAft>
              <a:defRPr sz="1800"/>
            </a:pPr>
            <a:r>
              <a:t>• Per-task: $0.10-0.50 (LLM + tool calls)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Benefits:</a:t>
            </a:r>
          </a:p>
          <a:p>
            <a:pPr lvl="1">
              <a:spcAft>
                <a:spcPts val="1000"/>
              </a:spcAft>
              <a:defRPr sz="1800"/>
            </a:pPr>
            <a:r>
              <a:t>• Time savings: [hours saved] × [rate] × [tasks/month]</a:t>
            </a:r>
          </a:p>
          <a:p>
            <a:pPr lvl="1">
              <a:spcAft>
                <a:spcPts val="1000"/>
              </a:spcAft>
              <a:defRPr sz="1800"/>
            </a:pPr>
            <a:r>
              <a:t>• Quality: [error reduction %] × [cost of errors]</a:t>
            </a:r>
          </a:p>
          <a:p>
            <a:pPr lvl="1">
              <a:spcAft>
                <a:spcPts val="1000"/>
              </a:spcAft>
              <a:defRPr sz="1800"/>
            </a:pPr>
            <a:r>
              <a:t>• Scale: [tasks enabled] × [value per task]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Typical Break-Even: 3-12 months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Agentic systems combine autonomy, planning,</a:t>
            </a:r>
          </a:p>
          <a:p>
            <a:pPr>
              <a:spcAft>
                <a:spcPts val="1000"/>
              </a:spcAft>
              <a:defRPr sz="1800"/>
            </a:pPr>
            <a:r>
              <a:t>   reasoning, and tool use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Different from automation (rigid) and chatbots (single-turn)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ReAct framework enables adaptive multi-step reasoning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Match architecture complexity to business need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Real value comes from handling tasks that are</a:t>
            </a:r>
          </a:p>
          <a:p>
            <a:pPr>
              <a:spcAft>
                <a:spcPts val="1000"/>
              </a:spcAft>
              <a:defRPr sz="1800"/>
            </a:pPr>
            <a:r>
              <a:t>   difficult to pre-program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6. Careful consideration of autonomy and oversight required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