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3: Advanced Prompting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Problem Decomposition &amp; Self-Correction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Least-to-Most (LtM) Prompting</a:t>
            </a:r>
          </a:p>
          <a:p>
            <a:pPr>
              <a:spcAft>
                <a:spcPts val="1000"/>
              </a:spcAft>
              <a:defRPr sz="1800"/>
            </a:pPr>
            <a:r>
              <a:t>2. Plan-and-Solve Approaches</a:t>
            </a:r>
          </a:p>
          <a:p>
            <a:pPr>
              <a:spcAft>
                <a:spcPts val="1000"/>
              </a:spcAft>
              <a:defRPr sz="1800"/>
            </a:pPr>
            <a:r>
              <a:t>3. Self-Refine for Iterative Improvement</a:t>
            </a:r>
          </a:p>
          <a:p>
            <a:pPr>
              <a:spcAft>
                <a:spcPts val="1000"/>
              </a:spcAft>
              <a:defRPr sz="1800"/>
            </a:pPr>
            <a:r>
              <a:t>4. Chain-of-Verification (CoVe)</a:t>
            </a:r>
          </a:p>
          <a:p>
            <a:pPr>
              <a:spcAft>
                <a:spcPts val="1000"/>
              </a:spcAft>
              <a:defRPr sz="1800"/>
            </a:pPr>
            <a:r>
              <a:t>5. When to Use Each Technique</a:t>
            </a:r>
          </a:p>
          <a:p>
            <a:pPr>
              <a:spcAft>
                <a:spcPts val="1000"/>
              </a:spcAft>
              <a:defRPr sz="1800"/>
            </a:pPr>
            <a:r>
              <a:t>6. Building Robust LLM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Apply Least-to-Most prompting for hierarchical problems</a:t>
            </a:r>
          </a:p>
          <a:p>
            <a:pPr>
              <a:spcAft>
                <a:spcPts val="1000"/>
              </a:spcAft>
              <a:defRPr sz="1800"/>
            </a:pPr>
            <a:r>
              <a:t>✓ Use Plan-and-Solve for complex multi-step tasks</a:t>
            </a:r>
          </a:p>
          <a:p>
            <a:pPr>
              <a:spcAft>
                <a:spcPts val="1000"/>
              </a:spcAft>
              <a:defRPr sz="1800"/>
            </a:pPr>
            <a:r>
              <a:t>✓ Implement Self-Refine for iterative quality improvement</a:t>
            </a:r>
          </a:p>
          <a:p>
            <a:pPr>
              <a:spcAft>
                <a:spcPts val="1000"/>
              </a:spcAft>
              <a:defRPr sz="1800"/>
            </a:pPr>
            <a:r>
              <a:t>✓ Apply Chain-of-Verification to reduce errors</a:t>
            </a:r>
          </a:p>
          <a:p>
            <a:pPr>
              <a:spcAft>
                <a:spcPts val="1000"/>
              </a:spcAft>
              <a:defRPr sz="1800"/>
            </a:pPr>
            <a:r>
              <a:t>✓ Build production-ready LLM applications with error correction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Least-to-Most Prompting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Least-to-Most (LtM)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Concept: Solve simplest sub-problem first, build up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Two-Stage Process:</a:t>
            </a:r>
          </a:p>
          <a:p>
            <a:pPr lvl="1">
              <a:spcAft>
                <a:spcPts val="1000"/>
              </a:spcAft>
              <a:defRPr sz="1800"/>
            </a:pPr>
            <a:r>
              <a:t>1. Decomposition: Break into ordered sub-problems</a:t>
            </a:r>
          </a:p>
          <a:p>
            <a:pPr lvl="1">
              <a:spcAft>
                <a:spcPts val="1000"/>
              </a:spcAft>
              <a:defRPr sz="1800"/>
            </a:pPr>
            <a:r>
              <a:t>2. Sequential Solving: Solve each, use result in next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"Analyze quarterly sales decline"</a:t>
            </a:r>
          </a:p>
          <a:p>
            <a:pPr lvl="1">
              <a:spcAft>
                <a:spcPts val="1000"/>
              </a:spcAft>
              <a:defRPr sz="1800"/>
            </a:pPr>
            <a:r>
              <a:t>→ 1st: Identify which products declined</a:t>
            </a:r>
          </a:p>
          <a:p>
            <a:pPr lvl="1">
              <a:spcAft>
                <a:spcPts val="1000"/>
              </a:spcAft>
              <a:defRPr sz="1800"/>
            </a:pPr>
            <a:r>
              <a:t>→ 2nd: For each product, analyze regional patterns</a:t>
            </a:r>
          </a:p>
          <a:p>
            <a:pPr lvl="1">
              <a:spcAft>
                <a:spcPts val="1000"/>
              </a:spcAft>
              <a:defRPr sz="1800"/>
            </a:pPr>
            <a:r>
              <a:t>→ 3rd: For declining regions, investigate causes</a:t>
            </a:r>
          </a:p>
          <a:p>
            <a:pPr lvl="1">
              <a:spcAft>
                <a:spcPts val="1000"/>
              </a:spcAft>
              <a:defRPr sz="1800"/>
            </a:pPr>
            <a:r>
              <a:t>→ 4th: Synthesize findings into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Plan-and-Solve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Plan-and-Solve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Concept: Explicit planning before execution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Process:</a:t>
            </a:r>
          </a:p>
          <a:p>
            <a:pPr lvl="1">
              <a:spcAft>
                <a:spcPts val="1000"/>
              </a:spcAft>
              <a:defRPr sz="1800"/>
            </a:pPr>
            <a:r>
              <a:t>1. Understand the problem</a:t>
            </a:r>
          </a:p>
          <a:p>
            <a:pPr lvl="1">
              <a:spcAft>
                <a:spcPts val="1000"/>
              </a:spcAft>
              <a:defRPr sz="1800"/>
            </a:pPr>
            <a:r>
              <a:t>2. Create explicit plan with steps</a:t>
            </a:r>
          </a:p>
          <a:p>
            <a:pPr lvl="1">
              <a:spcAft>
                <a:spcPts val="1000"/>
              </a:spcAft>
              <a:defRPr sz="1800"/>
            </a:pPr>
            <a:r>
              <a:t>3. Execute plan systematically</a:t>
            </a:r>
          </a:p>
          <a:p>
            <a:pPr lvl="1">
              <a:spcAft>
                <a:spcPts val="1000"/>
              </a:spcAft>
              <a:defRPr sz="1800"/>
            </a:pPr>
            <a:r>
              <a:t>4. Verify solution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Template:</a:t>
            </a:r>
          </a:p>
          <a:p>
            <a:pPr lvl="1">
              <a:spcAft>
                <a:spcPts val="1000"/>
              </a:spcAft>
              <a:defRPr sz="1800"/>
            </a:pPr>
            <a:r>
              <a:t>'First, create a detailed plan to solve [problem].'</a:t>
            </a:r>
          </a:p>
          <a:p>
            <a:pPr lvl="1">
              <a:spcAft>
                <a:spcPts val="1000"/>
              </a:spcAft>
              <a:defRPr sz="1800"/>
            </a:pPr>
            <a:r>
              <a:t>'Then execute each step of your plan.'</a:t>
            </a:r>
          </a:p>
          <a:p>
            <a:pPr lvl="1">
              <a:spcAft>
                <a:spcPts val="1000"/>
              </a:spcAft>
              <a:defRPr sz="1800"/>
            </a:pPr>
            <a:r>
              <a:t>'Finally, verify your answer.'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Self-Refine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Self-Refine for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Concept: AI critiques and improves its own output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Three-Step Loop:</a:t>
            </a:r>
          </a:p>
          <a:p>
            <a:pPr lvl="1">
              <a:spcAft>
                <a:spcPts val="1000"/>
              </a:spcAft>
              <a:defRPr sz="1800"/>
            </a:pPr>
            <a:r>
              <a:t>1. Generate: Create initial output</a:t>
            </a:r>
          </a:p>
          <a:p>
            <a:pPr lvl="1">
              <a:spcAft>
                <a:spcPts val="1000"/>
              </a:spcAft>
              <a:defRPr sz="1800"/>
            </a:pPr>
            <a:r>
              <a:t>2. Critique: Identify weaknesses</a:t>
            </a:r>
          </a:p>
          <a:p>
            <a:pPr lvl="1">
              <a:spcAft>
                <a:spcPts val="1000"/>
              </a:spcAft>
              <a:defRPr sz="1800"/>
            </a:pPr>
            <a:r>
              <a:t>3. Refine: Improve based on critique</a:t>
            </a:r>
          </a:p>
          <a:p>
            <a:pPr lvl="1">
              <a:spcAft>
                <a:spcPts val="1000"/>
              </a:spcAft>
              <a:defRPr sz="1800"/>
            </a:pPr>
            <a:r>
              <a:t>(Repeat 2-3 for N iterations)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When to Use:</a:t>
            </a:r>
          </a:p>
          <a:p>
            <a:pPr lvl="1">
              <a:spcAft>
                <a:spcPts val="1000"/>
              </a:spcAft>
              <a:defRPr sz="1800"/>
            </a:pPr>
            <a:r>
              <a:t>• High-stakes content (legal, financial, medical)</a:t>
            </a:r>
          </a:p>
          <a:p>
            <a:pPr lvl="1">
              <a:spcAft>
                <a:spcPts val="1000"/>
              </a:spcAft>
              <a:defRPr sz="1800"/>
            </a:pPr>
            <a:r>
              <a:t>• Quality more important than speed</a:t>
            </a:r>
          </a:p>
          <a:p>
            <a:pPr lvl="1">
              <a:spcAft>
                <a:spcPts val="1000"/>
              </a:spcAft>
              <a:defRPr sz="1800"/>
            </a:pPr>
            <a:r>
              <a:t>• Can afford multiple LLM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Chain-of-Verification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Chain-of-Verification (CoVe)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Concept: Generate, then verify facts systematically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Four-Step Process:</a:t>
            </a:r>
          </a:p>
          <a:p>
            <a:pPr lvl="1">
              <a:spcAft>
                <a:spcPts val="1000"/>
              </a:spcAft>
              <a:defRPr sz="1800"/>
            </a:pPr>
            <a:r>
              <a:t>1. Generate baseline response</a:t>
            </a:r>
          </a:p>
          <a:p>
            <a:pPr lvl="1">
              <a:spcAft>
                <a:spcPts val="1000"/>
              </a:spcAft>
              <a:defRPr sz="1800"/>
            </a:pPr>
            <a:r>
              <a:t>2. Plan verification questions</a:t>
            </a:r>
          </a:p>
          <a:p>
            <a:pPr lvl="1">
              <a:spcAft>
                <a:spcPts val="1000"/>
              </a:spcAft>
              <a:defRPr sz="1800"/>
            </a:pPr>
            <a:r>
              <a:t>3. Answer verification questions independently</a:t>
            </a:r>
          </a:p>
          <a:p>
            <a:pPr lvl="1">
              <a:spcAft>
                <a:spcPts val="1000"/>
              </a:spcAft>
              <a:defRPr sz="1800"/>
            </a:pPr>
            <a:r>
              <a:t>4. Generate final verified response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Reduces Hallucinations:</a:t>
            </a:r>
          </a:p>
          <a:p>
            <a:pPr lvl="1">
              <a:spcAft>
                <a:spcPts val="1000"/>
              </a:spcAft>
              <a:defRPr sz="1800"/>
            </a:pPr>
            <a:r>
              <a:t>Traditional: 35% factual errors</a:t>
            </a:r>
          </a:p>
          <a:p>
            <a:pPr lvl="1">
              <a:spcAft>
                <a:spcPts val="1000"/>
              </a:spcAft>
              <a:defRPr sz="1800"/>
            </a:pPr>
            <a:r>
              <a:t>With CoVe: 15% factual errors</a:t>
            </a:r>
          </a:p>
          <a:p>
            <a:pPr lvl="1">
              <a:spcAft>
                <a:spcPts val="1000"/>
              </a:spcAft>
              <a:defRPr sz="1800"/>
            </a:pPr>
            <a:r>
              <a:t>Source: Dhuliawala et al., 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Which technique for which problem?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LtM:</a:t>
            </a:r>
          </a:p>
          <a:p>
            <a:pPr lvl="1">
              <a:spcAft>
                <a:spcPts val="1000"/>
              </a:spcAft>
              <a:defRPr sz="1800"/>
            </a:pPr>
            <a:r>
              <a:t>→ Hierarchical problems with clear dependencies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Plan-and-Solve:</a:t>
            </a:r>
          </a:p>
          <a:p>
            <a:pPr lvl="1">
              <a:spcAft>
                <a:spcPts val="1000"/>
              </a:spcAft>
              <a:defRPr sz="1800"/>
            </a:pPr>
            <a:r>
              <a:t>→ Complex tasks needing systematic approach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Self-Refine:</a:t>
            </a:r>
          </a:p>
          <a:p>
            <a:pPr lvl="1">
              <a:spcAft>
                <a:spcPts val="1000"/>
              </a:spcAft>
              <a:defRPr sz="1800"/>
            </a:pPr>
            <a:r>
              <a:t>→ Quality-critical outputs (legal, medical)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CoVe:</a:t>
            </a:r>
          </a:p>
          <a:p>
            <a:pPr lvl="1">
              <a:spcAft>
                <a:spcPts val="1000"/>
              </a:spcAft>
              <a:defRPr sz="1800"/>
            </a:pPr>
            <a:r>
              <a:t>→ Fact-heavy content, reduce hallucinations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Least-to-Most builds solutions hierarchically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Plan-and-Solve creates explicit execution plans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Self-Refine iteratively improves quality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Chain-of-Verification reduces factual errors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Multiple iterations cost more but dramatically improve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