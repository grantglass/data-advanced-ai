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1: Foundations of Prompt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Prompting and Agentic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What is Prompt Engineering?</a:t>
            </a:r>
          </a:p>
          <a:p>
            <a:pPr>
              <a:spcAft>
                <a:spcPts val="1000"/>
              </a:spcAft>
              <a:defRPr sz="1800"/>
            </a:pPr>
            <a:r>
              <a:t>2. The Three Core Prompt Types</a:t>
            </a:r>
          </a:p>
          <a:p>
            <a:pPr lvl="1">
              <a:spcAft>
                <a:spcPts val="1000"/>
              </a:spcAft>
              <a:defRPr sz="1800"/>
            </a:pPr>
            <a:r>
              <a:t>Zero-Shot Prompts</a:t>
            </a:r>
          </a:p>
          <a:p>
            <a:pPr lvl="1">
              <a:spcAft>
                <a:spcPts val="1000"/>
              </a:spcAft>
              <a:defRPr sz="1800"/>
            </a:pPr>
            <a:r>
              <a:t>Role-Playing Prompts</a:t>
            </a:r>
          </a:p>
          <a:p>
            <a:pPr lvl="1">
              <a:spcAft>
                <a:spcPts val="1000"/>
              </a:spcAft>
              <a:defRPr sz="1800"/>
            </a:pPr>
            <a:r>
              <a:t>Detailed Instruction Prompts</a:t>
            </a:r>
          </a:p>
          <a:p>
            <a:pPr>
              <a:spcAft>
                <a:spcPts val="1000"/>
              </a:spcAft>
              <a:defRPr sz="1800"/>
            </a:pPr>
            <a:r>
              <a:t>3. Comparative Framework &amp; Evaluation</a:t>
            </a:r>
          </a:p>
          <a:p>
            <a:pPr>
              <a:spcAft>
                <a:spcPts val="1000"/>
              </a:spcAft>
              <a:defRPr sz="1800"/>
            </a:pPr>
            <a:r>
              <a:t>4. Best Practices &amp; Common Pitfalls</a:t>
            </a:r>
          </a:p>
          <a:p>
            <a:pPr>
              <a:spcAft>
                <a:spcPts val="1000"/>
              </a:spcAft>
              <a:defRPr sz="1800"/>
            </a:pPr>
            <a:r>
              <a:t>5. Business Applications &amp;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Define prompt engineering and explain its business value</a:t>
            </a:r>
          </a:p>
          <a:p>
            <a:pPr>
              <a:spcAft>
                <a:spcPts val="1000"/>
              </a:spcAft>
              <a:defRPr sz="1800"/>
            </a:pPr>
            <a:r>
              <a:t>✓ Distinguish between zero-shot, role-playing, and detailed prompts</a:t>
            </a:r>
          </a:p>
          <a:p>
            <a:pPr>
              <a:spcAft>
                <a:spcPts val="1000"/>
              </a:spcAft>
              <a:defRPr sz="1800"/>
            </a:pPr>
            <a:r>
              <a:t>✓ Evaluate which prompt type to use for specific use cases</a:t>
            </a:r>
          </a:p>
          <a:p>
            <a:pPr>
              <a:spcAft>
                <a:spcPts val="1000"/>
              </a:spcAft>
              <a:defRPr sz="1800"/>
            </a:pPr>
            <a:r>
              <a:t>✓ Apply a decision framework for prompt selection</a:t>
            </a:r>
          </a:p>
          <a:p>
            <a:pPr>
              <a:spcAft>
                <a:spcPts val="1000"/>
              </a:spcAft>
              <a:defRPr sz="1800"/>
            </a:pPr>
            <a:r>
              <a:t>✓ Estimate cost-benefit trade-offs for different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What is Prompt Engineering?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Prompt Engineering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The practice of designing effective inputs to AI models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Key Components:</a:t>
            </a:r>
          </a:p>
          <a:p>
            <a:pPr lvl="1">
              <a:spcAft>
                <a:spcPts val="1000"/>
              </a:spcAft>
              <a:defRPr sz="1800"/>
            </a:pPr>
            <a:r>
              <a:t>Clear instructions: What do you want the AI to do?</a:t>
            </a:r>
          </a:p>
          <a:p>
            <a:pPr lvl="1">
              <a:spcAft>
                <a:spcPts val="1000"/>
              </a:spcAft>
              <a:defRPr sz="1800"/>
            </a:pPr>
            <a:r>
              <a:t>Context: What background information is needed?</a:t>
            </a:r>
          </a:p>
          <a:p>
            <a:pPr lvl="1">
              <a:spcAft>
                <a:spcPts val="1000"/>
              </a:spcAft>
              <a:defRPr sz="1800"/>
            </a:pPr>
            <a:r>
              <a:t>Constraints: What limitations or requirements?</a:t>
            </a:r>
          </a:p>
          <a:p>
            <a:pPr lvl="1">
              <a:spcAft>
                <a:spcPts val="1000"/>
              </a:spcAft>
              <a:defRPr sz="1800"/>
            </a:pPr>
            <a:r>
              <a:t>Examples: What does good output look like?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Think of it as: Writing a perfect job description for an AI employee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It Matters for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Traditional Software:</a:t>
            </a:r>
          </a:p>
          <a:p>
            <a:pPr lvl="1">
              <a:spcAft>
                <a:spcPts val="1000"/>
              </a:spcAft>
              <a:defRPr sz="1800"/>
            </a:pPr>
            <a:r>
              <a:t>Write code: IF customer_angry THEN apologize</a:t>
            </a:r>
          </a:p>
          <a:p>
            <a:pPr lvl="1">
              <a:spcAft>
                <a:spcPts val="1000"/>
              </a:spcAft>
              <a:defRPr sz="1800"/>
            </a:pPr>
            <a:r>
              <a:t>Rigid, requires programming every scenario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Prompt Engineering:</a:t>
            </a:r>
          </a:p>
          <a:p>
            <a:pPr lvl="1">
              <a:spcAft>
                <a:spcPts val="1000"/>
              </a:spcAft>
              <a:defRPr sz="1800"/>
            </a:pPr>
            <a:r>
              <a:t>Write instructions: 'Respond empathetically to upset customers'</a:t>
            </a:r>
          </a:p>
          <a:p>
            <a:pPr lvl="1">
              <a:spcAft>
                <a:spcPts val="1000"/>
              </a:spcAft>
              <a:defRPr sz="1800"/>
            </a:pPr>
            <a:r>
              <a:t>Flexible, handles scenarios you didn't explicitly program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Result: 10-100x faster to deploy new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Type 1: Zero-Shot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Zero-Shot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Direct instruction with NO examples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'Write an email response to a customer who received</a:t>
            </a:r>
          </a:p>
          <a:p>
            <a:pPr lvl="1">
              <a:spcAft>
                <a:spcPts val="1000"/>
              </a:spcAft>
              <a:defRPr sz="1800"/>
            </a:pPr>
            <a:r>
              <a:t>a damaged product.'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When to Use:</a:t>
            </a:r>
          </a:p>
          <a:p>
            <a:pPr lvl="1">
              <a:spcAft>
                <a:spcPts val="1000"/>
              </a:spcAft>
              <a:defRPr sz="1800"/>
            </a:pPr>
            <a:r>
              <a:t>✓ Simple, well-understood tasks</a:t>
            </a:r>
          </a:p>
          <a:p>
            <a:pPr lvl="1">
              <a:spcAft>
                <a:spcPts val="1000"/>
              </a:spcAft>
              <a:defRPr sz="1800"/>
            </a:pPr>
            <a:r>
              <a:t>✓ Need speed over precision</a:t>
            </a:r>
          </a:p>
          <a:p>
            <a:pPr lvl="1">
              <a:spcAft>
                <a:spcPts val="1000"/>
              </a:spcAft>
              <a:defRPr sz="1800"/>
            </a:pPr>
            <a:r>
              <a:t>✓ Budget-constrained (minimal tokens)</a:t>
            </a:r>
          </a:p>
          <a:p>
            <a:pPr lvl="1">
              <a:spcAft>
                <a:spcPts val="1000"/>
              </a:spcAft>
              <a:defRPr sz="1800"/>
            </a:pPr>
            <a:r>
              <a:t>✗ Don't use for: Complex tasks, specific tone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Zero-Shot: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Strengths:</a:t>
            </a:r>
          </a:p>
          <a:p>
            <a:pPr lvl="1">
              <a:spcAft>
                <a:spcPts val="1000"/>
              </a:spcAft>
              <a:defRPr sz="1800"/>
            </a:pPr>
            <a:r>
              <a:t>⚡ Fast to create (10 seconds)</a:t>
            </a:r>
          </a:p>
          <a:p>
            <a:pPr lvl="1">
              <a:spcAft>
                <a:spcPts val="1000"/>
              </a:spcAft>
              <a:defRPr sz="1800"/>
            </a:pPr>
            <a:r>
              <a:t>💰 Minimal token usage = lower cost ($0.001 per query)</a:t>
            </a:r>
          </a:p>
          <a:p>
            <a:pPr lvl="1">
              <a:spcAft>
                <a:spcPts val="1000"/>
              </a:spcAft>
              <a:defRPr sz="1800"/>
            </a:pPr>
            <a:r>
              <a:t>🔄 Easy to test and iterate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Weaknesses:</a:t>
            </a:r>
          </a:p>
          <a:p>
            <a:pPr lvl="1">
              <a:spcAft>
                <a:spcPts val="1000"/>
              </a:spcAft>
              <a:defRPr sz="1800"/>
            </a:pPr>
            <a:r>
              <a:t>❌ Generic output (no company-specific tone)</a:t>
            </a:r>
          </a:p>
          <a:p>
            <a:pPr lvl="1">
              <a:spcAft>
                <a:spcPts val="1000"/>
              </a:spcAft>
              <a:defRPr sz="1800"/>
            </a:pPr>
            <a:r>
              <a:t>❌ May miss important details (policy, timeline)</a:t>
            </a:r>
          </a:p>
          <a:p>
            <a:pPr lvl="1">
              <a:spcAft>
                <a:spcPts val="1000"/>
              </a:spcAft>
              <a:defRPr sz="1800"/>
            </a:pPr>
            <a:r>
              <a:t>❌ Inconsistent quality across use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Type 2: Role-Playing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Role-Playing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Give the AI a specific role and persona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'You are a senior customer service representative at XYZ Corp</a:t>
            </a:r>
          </a:p>
          <a:p>
            <a:pPr lvl="1">
              <a:spcAft>
                <a:spcPts val="1000"/>
              </a:spcAft>
              <a:defRPr sz="1800"/>
            </a:pPr>
            <a:r>
              <a:t>with 10 years of experience. You are known for empathy and</a:t>
            </a:r>
          </a:p>
          <a:p>
            <a:pPr lvl="1">
              <a:spcAft>
                <a:spcPts val="1000"/>
              </a:spcAft>
              <a:defRPr sz="1800"/>
            </a:pPr>
            <a:r>
              <a:t>problem-solving. Respond to this damaged product complaint...'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The '4 Ps' of Role-Playing:</a:t>
            </a:r>
          </a:p>
          <a:p>
            <a:pPr lvl="1">
              <a:spcAft>
                <a:spcPts val="1000"/>
              </a:spcAft>
              <a:defRPr sz="1800"/>
            </a:pPr>
            <a:r>
              <a:t>1. Persona (who are you?)</a:t>
            </a:r>
          </a:p>
          <a:p>
            <a:pPr lvl="1">
              <a:spcAft>
                <a:spcPts val="1000"/>
              </a:spcAft>
              <a:defRPr sz="1800"/>
            </a:pPr>
            <a:r>
              <a:t>2. Purpose (what's your goal?)</a:t>
            </a:r>
          </a:p>
          <a:p>
            <a:pPr lvl="1">
              <a:spcAft>
                <a:spcPts val="1000"/>
              </a:spcAft>
              <a:defRPr sz="1800"/>
            </a:pPr>
            <a:r>
              <a:t>3. Parameters (what are the constraints?)</a:t>
            </a:r>
          </a:p>
          <a:p>
            <a:pPr lvl="1">
              <a:spcAft>
                <a:spcPts val="1000"/>
              </a:spcAft>
              <a:defRPr sz="1800"/>
            </a:pPr>
            <a:r>
              <a:t>4. Process (how should you approach it?)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Role-Playing: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Best For:</a:t>
            </a:r>
          </a:p>
          <a:p>
            <a:pPr lvl="1">
              <a:spcAft>
                <a:spcPts val="1000"/>
              </a:spcAft>
              <a:defRPr sz="1800"/>
            </a:pPr>
            <a:r>
              <a:t>✓ Tasks requiring specific tone/voice</a:t>
            </a:r>
          </a:p>
          <a:p>
            <a:pPr lvl="1">
              <a:spcAft>
                <a:spcPts val="1000"/>
              </a:spcAft>
              <a:defRPr sz="1800"/>
            </a:pPr>
            <a:r>
              <a:t>✓ Domain expertise needed (legal, medical, technical)</a:t>
            </a:r>
          </a:p>
          <a:p>
            <a:pPr lvl="1">
              <a:spcAft>
                <a:spcPts val="1000"/>
              </a:spcAft>
              <a:defRPr sz="1800"/>
            </a:pPr>
            <a:r>
              <a:t>✓ Consistent brand personality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Cost-Benefit:</a:t>
            </a:r>
          </a:p>
          <a:p>
            <a:pPr lvl="1">
              <a:spcAft>
                <a:spcPts val="1000"/>
              </a:spcAft>
              <a:defRPr sz="1800"/>
            </a:pPr>
            <a:r>
              <a:t>Cost: ~$0.002-0.003 per query (3x zero-shot)</a:t>
            </a:r>
          </a:p>
          <a:p>
            <a:pPr lvl="1">
              <a:spcAft>
                <a:spcPts val="1000"/>
              </a:spcAft>
              <a:defRPr sz="1800"/>
            </a:pPr>
            <a:r>
              <a:t>Benefit: 40-60% better output quality</a:t>
            </a:r>
          </a:p>
          <a:p>
            <a:pPr lvl="1">
              <a:spcAft>
                <a:spcPts val="1000"/>
              </a:spcAft>
              <a:defRPr sz="1800"/>
            </a:pPr>
            <a:r>
              <a:t>ROI: Worth it for customer-facing content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Type 3: Detailed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Detailed Instruction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Comprehensive prompt with context, examples, format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Includes:</a:t>
            </a:r>
          </a:p>
          <a:p>
            <a:pPr lvl="1">
              <a:spcAft>
                <a:spcPts val="1000"/>
              </a:spcAft>
              <a:defRPr sz="1800"/>
            </a:pPr>
            <a:r>
              <a:t>📋 Background context</a:t>
            </a:r>
          </a:p>
          <a:p>
            <a:pPr lvl="1">
              <a:spcAft>
                <a:spcPts val="1000"/>
              </a:spcAft>
              <a:defRPr sz="1800"/>
            </a:pPr>
            <a:r>
              <a:t>🎯 Specific objectives</a:t>
            </a:r>
          </a:p>
          <a:p>
            <a:pPr lvl="1">
              <a:spcAft>
                <a:spcPts val="1000"/>
              </a:spcAft>
              <a:defRPr sz="1800"/>
            </a:pPr>
            <a:r>
              <a:t>📐 Output format/structure</a:t>
            </a:r>
          </a:p>
          <a:p>
            <a:pPr lvl="1">
              <a:spcAft>
                <a:spcPts val="1000"/>
              </a:spcAft>
              <a:defRPr sz="1800"/>
            </a:pPr>
            <a:r>
              <a:t>✅ Examples of good output</a:t>
            </a:r>
          </a:p>
          <a:p>
            <a:pPr lvl="1">
              <a:spcAft>
                <a:spcPts val="1000"/>
              </a:spcAft>
              <a:defRPr sz="1800"/>
            </a:pPr>
            <a:r>
              <a:t>🚫 What NOT to do</a:t>
            </a:r>
          </a:p>
          <a:p>
            <a:pPr lvl="1">
              <a:spcAft>
                <a:spcPts val="1000"/>
              </a:spcAft>
              <a:defRPr sz="1800"/>
            </a:pPr>
            <a:r>
              <a:t>⚖️ Quality criteria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Detailed Instructions: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Template Structure: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Role &amp; Context (who you are, what situation)</a:t>
            </a:r>
          </a:p>
          <a:p>
            <a:pPr>
              <a:spcAft>
                <a:spcPts val="1000"/>
              </a:spcAft>
              <a:defRPr sz="1800"/>
            </a:pPr>
            <a:r>
              <a:t>2. Task Definition (exactly what to do)</a:t>
            </a:r>
          </a:p>
          <a:p>
            <a:pPr>
              <a:spcAft>
                <a:spcPts val="1000"/>
              </a:spcAft>
              <a:defRPr sz="1800"/>
            </a:pPr>
            <a:r>
              <a:t>3. Constraints (word limit, tone, requirements)</a:t>
            </a:r>
          </a:p>
          <a:p>
            <a:pPr>
              <a:spcAft>
                <a:spcPts val="1000"/>
              </a:spcAft>
              <a:defRPr sz="1800"/>
            </a:pPr>
            <a:r>
              <a:t>4. Examples (2-3 good examples)</a:t>
            </a:r>
          </a:p>
          <a:p>
            <a:pPr>
              <a:spcAft>
                <a:spcPts val="1000"/>
              </a:spcAft>
              <a:defRPr sz="1800"/>
            </a:pPr>
            <a:r>
              <a:t>5. Output Format (structure, sections)</a:t>
            </a:r>
          </a:p>
          <a:p>
            <a:pPr>
              <a:spcAft>
                <a:spcPts val="1000"/>
              </a:spcAft>
              <a:defRPr sz="1800"/>
            </a:pPr>
            <a:r>
              <a:t>6. Quality Checks (what makes a good response)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Cost-Benefit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Comparison by Prompt Type: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Zero-Shot:</a:t>
            </a:r>
          </a:p>
          <a:p>
            <a:pPr lvl="1">
              <a:spcAft>
                <a:spcPts val="1000"/>
              </a:spcAft>
              <a:defRPr sz="1800"/>
            </a:pPr>
            <a:r>
              <a:t>Cost: $0.001/query | Quality: 60% | Time: 10 sec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Role-Playing:</a:t>
            </a:r>
          </a:p>
          <a:p>
            <a:pPr lvl="1">
              <a:spcAft>
                <a:spcPts val="1000"/>
              </a:spcAft>
              <a:defRPr sz="1800"/>
            </a:pPr>
            <a:r>
              <a:t>Cost: $0.003/query | Quality: 80% | Time: 2 min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Detailed:</a:t>
            </a:r>
          </a:p>
          <a:p>
            <a:pPr lvl="1">
              <a:spcAft>
                <a:spcPts val="1000"/>
              </a:spcAft>
              <a:defRPr sz="1800"/>
            </a:pPr>
            <a:r>
              <a:t>Cost: $0.005/query | Quality: 95% | Time: 15 min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💡 Decision: Match complexity to business need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Evaluation &amp; Decision Framework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When to Use Each Prompt Type: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Zero-Shot:</a:t>
            </a:r>
          </a:p>
          <a:p>
            <a:pPr lvl="1">
              <a:spcAft>
                <a:spcPts val="1000"/>
              </a:spcAft>
              <a:defRPr sz="1800"/>
            </a:pPr>
            <a:r>
              <a:t>• High volume, low stakes (1000s of queries/day)</a:t>
            </a:r>
          </a:p>
          <a:p>
            <a:pPr lvl="1">
              <a:spcAft>
                <a:spcPts val="1000"/>
              </a:spcAft>
              <a:defRPr sz="1800"/>
            </a:pPr>
            <a:r>
              <a:t>• Internal tools, draft generation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Role-Playing:</a:t>
            </a:r>
          </a:p>
          <a:p>
            <a:pPr lvl="1">
              <a:spcAft>
                <a:spcPts val="1000"/>
              </a:spcAft>
              <a:defRPr sz="1800"/>
            </a:pPr>
            <a:r>
              <a:t>• Medium volume, medium stakes (100s/day)</a:t>
            </a:r>
          </a:p>
          <a:p>
            <a:pPr lvl="1">
              <a:spcAft>
                <a:spcPts val="1000"/>
              </a:spcAft>
              <a:defRPr sz="1800"/>
            </a:pPr>
            <a:r>
              <a:t>• Customer-facing but low risk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Detailed Instructions:</a:t>
            </a:r>
          </a:p>
          <a:p>
            <a:pPr lvl="1">
              <a:spcAft>
                <a:spcPts val="1000"/>
              </a:spcAft>
              <a:defRPr sz="1800"/>
            </a:pPr>
            <a:r>
              <a:t>• Low volume, high stakes (10s/day)</a:t>
            </a:r>
          </a:p>
          <a:p>
            <a:pPr lvl="1">
              <a:spcAft>
                <a:spcPts val="1000"/>
              </a:spcAft>
              <a:defRPr sz="1800"/>
            </a:pPr>
            <a:r>
              <a:t>• Legal, financial, medical, executive content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10 Prompt Engineering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Be specific (not 'summarize' but 'create 3-bullet summary')</a:t>
            </a:r>
          </a:p>
          <a:p>
            <a:pPr>
              <a:spcAft>
                <a:spcPts val="1000"/>
              </a:spcAft>
              <a:defRPr sz="1800"/>
            </a:pPr>
            <a:r>
              <a:t>2. Provide context (background info the AI needs)</a:t>
            </a:r>
          </a:p>
          <a:p>
            <a:pPr>
              <a:spcAft>
                <a:spcPts val="1000"/>
              </a:spcAft>
              <a:defRPr sz="1800"/>
            </a:pPr>
            <a:r>
              <a:t>3. Use examples (show don't tell)</a:t>
            </a:r>
          </a:p>
          <a:p>
            <a:pPr>
              <a:spcAft>
                <a:spcPts val="1000"/>
              </a:spcAft>
              <a:defRPr sz="1800"/>
            </a:pPr>
            <a:r>
              <a:t>4. Set constraints (word limit, tone, format)</a:t>
            </a:r>
          </a:p>
          <a:p>
            <a:pPr>
              <a:spcAft>
                <a:spcPts val="1000"/>
              </a:spcAft>
              <a:defRPr sz="1800"/>
            </a:pPr>
            <a:r>
              <a:t>5. Iterate (test and refine)</a:t>
            </a:r>
          </a:p>
          <a:p>
            <a:pPr>
              <a:spcAft>
                <a:spcPts val="1000"/>
              </a:spcAft>
              <a:defRPr sz="1800"/>
            </a:pPr>
            <a:r>
              <a:t>6. Specify output format (JSON, bullet points, paragraph)</a:t>
            </a:r>
          </a:p>
          <a:p>
            <a:pPr>
              <a:spcAft>
                <a:spcPts val="1000"/>
              </a:spcAft>
              <a:defRPr sz="1800"/>
            </a:pPr>
            <a:r>
              <a:t>7. Think step-by-step (break complex tasks into steps)</a:t>
            </a:r>
          </a:p>
          <a:p>
            <a:pPr>
              <a:spcAft>
                <a:spcPts val="1000"/>
              </a:spcAft>
              <a:defRPr sz="1800"/>
            </a:pPr>
            <a:r>
              <a:t>8. Use delimiters (### to separate sections)</a:t>
            </a:r>
          </a:p>
          <a:p>
            <a:pPr>
              <a:spcAft>
                <a:spcPts val="1000"/>
              </a:spcAft>
              <a:defRPr sz="1800"/>
            </a:pPr>
            <a:r>
              <a:t>9. Request reasoning (ask AI to 'think aloud')</a:t>
            </a:r>
          </a:p>
          <a:p>
            <a:pPr>
              <a:spcAft>
                <a:spcPts val="1000"/>
              </a:spcAft>
              <a:defRPr sz="1800"/>
            </a:pPr>
            <a:r>
              <a:t>10. Measure quality (define success criteria)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Real-World Business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Customer Service:</a:t>
            </a:r>
          </a:p>
          <a:p>
            <a:pPr lvl="1">
              <a:spcAft>
                <a:spcPts val="1000"/>
              </a:spcAft>
              <a:defRPr sz="1800"/>
            </a:pPr>
            <a:r>
              <a:t>Email responses, chat support, FAQs (Role-playing)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Content Creation:</a:t>
            </a:r>
          </a:p>
          <a:p>
            <a:pPr lvl="1">
              <a:spcAft>
                <a:spcPts val="1000"/>
              </a:spcAft>
              <a:defRPr sz="1800"/>
            </a:pPr>
            <a:r>
              <a:t>Marketing copy, social media, blogs (Detailed)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Data Analysis:</a:t>
            </a:r>
          </a:p>
          <a:p>
            <a:pPr lvl="1">
              <a:spcAft>
                <a:spcPts val="1000"/>
              </a:spcAft>
              <a:defRPr sz="1800"/>
            </a:pPr>
            <a:r>
              <a:t>Report summaries, insight extraction (Zero-shot)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Code Generation:</a:t>
            </a:r>
          </a:p>
          <a:p>
            <a:pPr lvl="1">
              <a:spcAft>
                <a:spcPts val="1000"/>
              </a:spcAft>
              <a:defRPr sz="1800"/>
            </a:pPr>
            <a:r>
              <a:t>Documentation, code review, debugging (Detailed)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ROI Example: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Scenario: E-commerce company, 1000 emails/day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Traditional Approach:</a:t>
            </a:r>
          </a:p>
          <a:p>
            <a:pPr lvl="1">
              <a:spcAft>
                <a:spcPts val="1000"/>
              </a:spcAft>
              <a:defRPr sz="1800"/>
            </a:pPr>
            <a:r>
              <a:t>• 10 agents × $30/hr × 8hr = $2,400/day</a:t>
            </a:r>
          </a:p>
          <a:p>
            <a:pPr lvl="1">
              <a:spcAft>
                <a:spcPts val="1000"/>
              </a:spcAft>
              <a:defRPr sz="1800"/>
            </a:pPr>
            <a:r>
              <a:t>• $600K/year in labor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AI with Detailed Prompts:</a:t>
            </a:r>
          </a:p>
          <a:p>
            <a:pPr lvl="1">
              <a:spcAft>
                <a:spcPts val="1000"/>
              </a:spcAft>
              <a:defRPr sz="1800"/>
            </a:pPr>
            <a:r>
              <a:t>• $0.005 × 1000 queries = $5/day</a:t>
            </a:r>
          </a:p>
          <a:p>
            <a:pPr lvl="1">
              <a:spcAft>
                <a:spcPts val="1000"/>
              </a:spcAft>
              <a:defRPr sz="1800"/>
            </a:pPr>
            <a:r>
              <a:t>• $1,825/year in API costs</a:t>
            </a:r>
          </a:p>
          <a:p>
            <a:pPr lvl="1">
              <a:spcAft>
                <a:spcPts val="1000"/>
              </a:spcAft>
              <a:defRPr sz="1800"/>
            </a:pPr>
            <a:r>
              <a:t>• 2 agents for review/escalation = $120K/year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Net Savings: $478K/year (80% reduction)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Your Turn: Design a Prompt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Scenario:</a:t>
            </a:r>
          </a:p>
          <a:p>
            <a:pPr lvl="1">
              <a:spcAft>
                <a:spcPts val="1000"/>
              </a:spcAft>
              <a:defRPr sz="1800"/>
            </a:pPr>
            <a:r>
              <a:t>You need an AI to analyze customer feedback and</a:t>
            </a:r>
          </a:p>
          <a:p>
            <a:pPr lvl="1">
              <a:spcAft>
                <a:spcPts val="1000"/>
              </a:spcAft>
              <a:defRPr sz="1800"/>
            </a:pPr>
            <a:r>
              <a:t>categorize issues (product, shipping, service)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Questions to Consider:</a:t>
            </a:r>
          </a:p>
          <a:p>
            <a:pPr lvl="1">
              <a:spcAft>
                <a:spcPts val="1000"/>
              </a:spcAft>
              <a:defRPr sz="1800"/>
            </a:pPr>
            <a:r>
              <a:t>1. Which prompt type would you use and why?</a:t>
            </a:r>
          </a:p>
          <a:p>
            <a:pPr lvl="1">
              <a:spcAft>
                <a:spcPts val="1000"/>
              </a:spcAft>
              <a:defRPr sz="1800"/>
            </a:pPr>
            <a:r>
              <a:t>2. What context does the AI need?</a:t>
            </a:r>
          </a:p>
          <a:p>
            <a:pPr lvl="1">
              <a:spcAft>
                <a:spcPts val="1000"/>
              </a:spcAft>
              <a:defRPr sz="1800"/>
            </a:pPr>
            <a:r>
              <a:t>3. What constraints should you set?</a:t>
            </a:r>
          </a:p>
          <a:p>
            <a:pPr lvl="1">
              <a:spcAft>
                <a:spcPts val="1000"/>
              </a:spcAft>
              <a:defRPr sz="1800"/>
            </a:pPr>
            <a:r>
              <a:t>4. How would you measure success?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Prompt engineering is a critical skill for AI deployment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Three prompt types serve different needs:</a:t>
            </a:r>
          </a:p>
          <a:p>
            <a:pPr lvl="1">
              <a:spcAft>
                <a:spcPts val="1000"/>
              </a:spcAft>
              <a:defRPr sz="1800"/>
            </a:pPr>
            <a:r>
              <a:t>• Zero-shot: Fast, cheap, good enough</a:t>
            </a:r>
          </a:p>
          <a:p>
            <a:pPr lvl="1">
              <a:spcAft>
                <a:spcPts val="1000"/>
              </a:spcAft>
              <a:defRPr sz="1800"/>
            </a:pPr>
            <a:r>
              <a:t>• Role-playing: Balanced quality &amp; cost</a:t>
            </a:r>
          </a:p>
          <a:p>
            <a:pPr lvl="1">
              <a:spcAft>
                <a:spcPts val="1000"/>
              </a:spcAft>
              <a:defRPr sz="1800"/>
            </a:pPr>
            <a:r>
              <a:t>• Detailed: High quality, high effort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Match prompt complexity to business value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Always measure: quality, cost, time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Iterate: Your first prompt won't be perfect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